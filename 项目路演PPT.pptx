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68680" y="1078992"/>
            <a:ext cx="2148840" cy="384048"/>
          </a:xfrm>
          <a:prstGeom prst="roundRect">
            <a:avLst>
              <a:gd name="adj" fmla="val 50000"/>
            </a:avLst>
          </a:prstGeom>
          <a:solidFill>
            <a:srgbClr val="1B293A"/>
          </a:solidFill>
          <a:ln w="952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 i="0">
                <a:solidFill>
                  <a:srgbClr val="4FC3F7"/>
                </a:solidFill>
                <a:latin typeface="微软雅黑"/>
                <a:ea typeface="微软雅黑"/>
              </a:rPr>
              <a:t>PROJECT ROADSHOW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106070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5200" b="1" i="0">
                <a:solidFill>
                  <a:srgbClr val="E6EDF5"/>
                </a:solidFill>
                <a:latin typeface="微软雅黑"/>
                <a:ea typeface="微软雅黑"/>
              </a:rPr>
              <a:t>合同审批智能审查系统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07792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2000" b="1" i="0">
                <a:solidFill>
                  <a:srgbClr val="4FC3F7"/>
                </a:solidFill>
                <a:latin typeface="微软雅黑"/>
                <a:ea typeface="微软雅黑"/>
              </a:rPr>
              <a:t>企业合同审批场景的 AI 智能审查与协同工作台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639312"/>
            <a:ext cx="3108960" cy="36576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85876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500" b="0" i="0">
                <a:solidFill>
                  <a:srgbClr val="E6EDF5"/>
                </a:solidFill>
                <a:latin typeface="微软雅黑"/>
                <a:ea typeface="微软雅黑"/>
              </a:rPr>
              <a:t>解析 → 审查 → 复核 → 回写 → 报告，让每一份合同的风险都锚定在原文的坐标里</a:t>
            </a:r>
          </a:p>
          <a:p>
            <a:pPr algn="l">
              <a:lnSpc>
                <a:spcPct val="118000"/>
              </a:lnSpc>
              <a:spcBef>
                <a:spcPts val="800"/>
              </a:spcBef>
              <a:spcAft>
                <a:spcPts val="400"/>
              </a:spcAft>
            </a:pPr>
            <a:r>
              <a:rPr sz="1250" b="0" i="0">
                <a:solidFill>
                  <a:srgbClr val="8FA3B8"/>
                </a:solidFill>
                <a:latin typeface="微软雅黑"/>
                <a:ea typeface="微软雅黑"/>
              </a:rPr>
              <a:t>支持 DOCX / PDF / 扫描件接入 · 规则引擎 + 大模型双引擎 · 原文与风险双向高亮 · 审查意见一键回写审批系统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074920"/>
            <a:ext cx="1481328" cy="420624"/>
          </a:xfrm>
          <a:prstGeom prst="roundRect">
            <a:avLst>
              <a:gd name="adj" fmla="val 50000"/>
            </a:avLst>
          </a:prstGeom>
          <a:solidFill>
            <a:srgbClr val="1B293A"/>
          </a:solidFill>
          <a:ln w="952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50" b="1" i="0">
                <a:solidFill>
                  <a:srgbClr val="6EE7B7"/>
                </a:solidFill>
                <a:latin typeface="微软雅黑"/>
                <a:ea typeface="微软雅黑"/>
              </a:rPr>
              <a:t>多格式解析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96312" y="5074920"/>
            <a:ext cx="1481328" cy="420624"/>
          </a:xfrm>
          <a:prstGeom prst="roundRect">
            <a:avLst>
              <a:gd name="adj" fmla="val 50000"/>
            </a:avLst>
          </a:prstGeom>
          <a:solidFill>
            <a:srgbClr val="1B293A"/>
          </a:solidFill>
          <a:ln w="952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50" b="1" i="0">
                <a:solidFill>
                  <a:srgbClr val="6EE7B7"/>
                </a:solidFill>
                <a:latin typeface="微软雅黑"/>
                <a:ea typeface="微软雅黑"/>
              </a:rPr>
              <a:t>双引擎审查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23944" y="5074920"/>
            <a:ext cx="1481328" cy="420624"/>
          </a:xfrm>
          <a:prstGeom prst="roundRect">
            <a:avLst>
              <a:gd name="adj" fmla="val 50000"/>
            </a:avLst>
          </a:prstGeom>
          <a:solidFill>
            <a:srgbClr val="1B293A"/>
          </a:solidFill>
          <a:ln w="952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50" b="1" i="0">
                <a:solidFill>
                  <a:srgbClr val="6EE7B7"/>
                </a:solidFill>
                <a:latin typeface="微软雅黑"/>
                <a:ea typeface="微软雅黑"/>
              </a:rPr>
              <a:t>双向溯源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51576" y="5074920"/>
            <a:ext cx="1481328" cy="420624"/>
          </a:xfrm>
          <a:prstGeom prst="roundRect">
            <a:avLst>
              <a:gd name="adj" fmla="val 50000"/>
            </a:avLst>
          </a:prstGeom>
          <a:solidFill>
            <a:srgbClr val="1B293A"/>
          </a:solidFill>
          <a:ln w="952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50" b="1" i="0">
                <a:solidFill>
                  <a:srgbClr val="6EE7B7"/>
                </a:solidFill>
                <a:latin typeface="微软雅黑"/>
                <a:ea typeface="微软雅黑"/>
              </a:rPr>
              <a:t>一键回写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79208" y="5074920"/>
            <a:ext cx="1481328" cy="420624"/>
          </a:xfrm>
          <a:prstGeom prst="roundRect">
            <a:avLst>
              <a:gd name="adj" fmla="val 50000"/>
            </a:avLst>
          </a:prstGeom>
          <a:solidFill>
            <a:srgbClr val="1B293A"/>
          </a:solidFill>
          <a:ln w="952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50" b="1" i="0">
                <a:solidFill>
                  <a:srgbClr val="6EE7B7"/>
                </a:solidFill>
                <a:latin typeface="微软雅黑"/>
                <a:ea typeface="微软雅黑"/>
              </a:rPr>
              <a:t>报告导出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98932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150" b="0" i="0">
                <a:solidFill>
                  <a:srgbClr val="8FA3B8"/>
                </a:solidFill>
                <a:latin typeface="微软雅黑"/>
                <a:ea typeface="微软雅黑"/>
              </a:rPr>
              <a:t>项目实战 · 2.4 合同审批审查系统   |   版本 V1.0   ·   2026 年 9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8FA3B8"/>
                </a:solidFill>
                <a:latin typeface="微软雅黑"/>
                <a:ea typeface="微软雅黑"/>
              </a:rPr>
              <a:t>目录</a:t>
            </a:r>
            <a:r>
              <a:rPr sz="1000" b="0" i="0">
                <a:solidFill>
                  <a:srgbClr val="5A6B83"/>
                </a:solidFill>
                <a:latin typeface="微软雅黑"/>
                <a:ea typeface="微软雅黑"/>
              </a:rPr>
              <a:t>   / 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822960" cy="50292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42415"/>
            <a:ext cx="10972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E6EDF5"/>
                </a:solidFill>
                <a:latin typeface="微软雅黑"/>
                <a:ea typeface="微软雅黑"/>
              </a:rPr>
              <a:t>目录 · 七部分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3000" b="1" i="0">
                <a:solidFill>
                  <a:srgbClr val="4FC3F7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1527048" y="1911095"/>
            <a:ext cx="27432" cy="658368"/>
          </a:xfrm>
          <a:prstGeom prst="rect">
            <a:avLst/>
          </a:prstGeom>
          <a:solidFill>
            <a:srgbClr val="24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09928" y="1810512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500" b="1" i="0">
                <a:solidFill>
                  <a:srgbClr val="E6EDF5"/>
                </a:solidFill>
                <a:latin typeface="微软雅黑"/>
                <a:ea typeface="微软雅黑"/>
              </a:rPr>
              <a:t>项目背景与定位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9928" y="2221991"/>
            <a:ext cx="4160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8FA3B8"/>
                </a:solidFill>
                <a:latin typeface="微软雅黑"/>
                <a:ea typeface="微软雅黑"/>
              </a:rPr>
              <a:t>审批痛点、一句话定义与三大业务闭环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16936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3000" b="1" i="0">
                <a:solidFill>
                  <a:srgbClr val="6EE7B7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27048" y="3044952"/>
            <a:ext cx="27432" cy="658368"/>
          </a:xfrm>
          <a:prstGeom prst="rect">
            <a:avLst/>
          </a:prstGeom>
          <a:solidFill>
            <a:srgbClr val="24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09928" y="2944368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500" b="1" i="0">
                <a:solidFill>
                  <a:srgbClr val="E6EDF5"/>
                </a:solidFill>
                <a:latin typeface="微软雅黑"/>
                <a:ea typeface="微软雅黑"/>
              </a:rPr>
              <a:t>解决方案总览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9928" y="3355848"/>
            <a:ext cx="4160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8FA3B8"/>
                </a:solidFill>
                <a:latin typeface="微软雅黑"/>
                <a:ea typeface="微软雅黑"/>
              </a:rPr>
              <a:t>五大能力建设、角色权限与功能版图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50791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3000" b="1" i="0">
                <a:solidFill>
                  <a:srgbClr val="4FC3F7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27048" y="4178807"/>
            <a:ext cx="27432" cy="658368"/>
          </a:xfrm>
          <a:prstGeom prst="rect">
            <a:avLst/>
          </a:prstGeom>
          <a:solidFill>
            <a:srgbClr val="24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09928" y="4078224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500" b="1" i="0">
                <a:solidFill>
                  <a:srgbClr val="E6EDF5"/>
                </a:solidFill>
                <a:latin typeface="微软雅黑"/>
                <a:ea typeface="微软雅黑"/>
              </a:rPr>
              <a:t>系统架构与技术选型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9928" y="4489704"/>
            <a:ext cx="4160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8FA3B8"/>
                </a:solidFill>
                <a:latin typeface="微软雅黑"/>
                <a:ea typeface="微软雅黑"/>
              </a:rPr>
              <a:t>五层架构、技术栈与三大引擎设计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184648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3000" b="1" i="0">
                <a:solidFill>
                  <a:srgbClr val="6EE7B7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27048" y="5312664"/>
            <a:ext cx="27432" cy="658368"/>
          </a:xfrm>
          <a:prstGeom prst="rect">
            <a:avLst/>
          </a:prstGeom>
          <a:solidFill>
            <a:srgbClr val="24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09928" y="5212080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500" b="1" i="0">
                <a:solidFill>
                  <a:srgbClr val="E6EDF5"/>
                </a:solidFill>
                <a:latin typeface="微软雅黑"/>
                <a:ea typeface="微软雅黑"/>
              </a:rPr>
              <a:t>关键设计详解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09928" y="5623560"/>
            <a:ext cx="4160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8FA3B8"/>
                </a:solidFill>
                <a:latin typeface="微软雅黑"/>
                <a:ea typeface="微软雅黑"/>
              </a:rPr>
              <a:t>三元溯源定位、双引擎协同、状态机与回写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178308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3000" b="1" i="0">
                <a:solidFill>
                  <a:srgbClr val="4FC3F7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87768" y="1911095"/>
            <a:ext cx="27432" cy="658368"/>
          </a:xfrm>
          <a:prstGeom prst="rect">
            <a:avLst/>
          </a:prstGeom>
          <a:solidFill>
            <a:srgbClr val="24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70648" y="1810512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500" b="1" i="0">
                <a:solidFill>
                  <a:srgbClr val="E6EDF5"/>
                </a:solidFill>
                <a:latin typeface="微软雅黑"/>
                <a:ea typeface="微软雅黑"/>
              </a:rPr>
              <a:t>界面与交互设计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0648" y="2221991"/>
            <a:ext cx="4160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8FA3B8"/>
                </a:solidFill>
                <a:latin typeface="微软雅黑"/>
                <a:ea typeface="微软雅黑"/>
              </a:rPr>
              <a:t>三大页面、双栏联动工作台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2916936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3000" b="1" i="0">
                <a:solidFill>
                  <a:srgbClr val="6EE7B7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87768" y="3044952"/>
            <a:ext cx="27432" cy="658368"/>
          </a:xfrm>
          <a:prstGeom prst="rect">
            <a:avLst/>
          </a:prstGeom>
          <a:solidFill>
            <a:srgbClr val="24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70648" y="2944368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500" b="1" i="0">
                <a:solidFill>
                  <a:srgbClr val="E6EDF5"/>
                </a:solidFill>
                <a:latin typeface="微软雅黑"/>
                <a:ea typeface="微软雅黑"/>
              </a:rPr>
              <a:t>验证与亮点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70648" y="3355848"/>
            <a:ext cx="4160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8FA3B8"/>
                </a:solidFill>
                <a:latin typeface="微软雅黑"/>
                <a:ea typeface="微软雅黑"/>
              </a:rPr>
              <a:t>示例合同集、端到端演示、技术创新点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050791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3000" b="1" i="0">
                <a:solidFill>
                  <a:srgbClr val="4FC3F7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87768" y="4178807"/>
            <a:ext cx="27432" cy="658368"/>
          </a:xfrm>
          <a:prstGeom prst="rect">
            <a:avLst/>
          </a:prstGeom>
          <a:solidFill>
            <a:srgbClr val="24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70648" y="4078224"/>
            <a:ext cx="4023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500" b="1" i="0">
                <a:solidFill>
                  <a:srgbClr val="E6EDF5"/>
                </a:solidFill>
                <a:latin typeface="微软雅黑"/>
                <a:ea typeface="微软雅黑"/>
              </a:rPr>
              <a:t>实施进展与展望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0648" y="4489704"/>
            <a:ext cx="4160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8FA3B8"/>
                </a:solidFill>
                <a:latin typeface="微软雅黑"/>
                <a:ea typeface="微软雅黑"/>
              </a:rPr>
              <a:t>里程碑进度、验收对照与下一步规划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9224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合同审批智能审查系统 · 项目路演   |   V1.0 · 2026.09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492240"/>
            <a:ext cx="9418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02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4FC3F7"/>
                </a:solidFill>
                <a:latin typeface="微软雅黑"/>
                <a:ea typeface="微软雅黑"/>
              </a:rPr>
              <a:t>01</a:t>
            </a:r>
            <a:r>
              <a:rPr sz="1300" b="1" i="0">
                <a:solidFill>
                  <a:srgbClr val="8FA3B8"/>
                </a:solidFill>
                <a:latin typeface="微软雅黑"/>
                <a:ea typeface="微软雅黑"/>
              </a:rPr>
              <a:t>   项目背景与定位</a:t>
            </a:r>
            <a:r>
              <a:rPr sz="1000" b="0" i="0">
                <a:solidFill>
                  <a:srgbClr val="5A6B83"/>
                </a:solidFill>
                <a:latin typeface="微软雅黑"/>
                <a:ea typeface="微软雅黑"/>
              </a:rPr>
              <a:t>   / 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822960" cy="50292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42415"/>
            <a:ext cx="10972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E6EDF5"/>
                </a:solidFill>
                <a:latin typeface="微软雅黑"/>
                <a:ea typeface="微软雅黑"/>
              </a:rPr>
              <a:t>合同审批场景的四大痛点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2578608" cy="3063240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75688"/>
            <a:ext cx="64008" cy="2843784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96112" y="224028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0E1621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971800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650" b="1" i="0">
                <a:solidFill>
                  <a:srgbClr val="4FC3F7"/>
                </a:solidFill>
                <a:latin typeface="微软雅黑"/>
                <a:ea typeface="微软雅黑"/>
              </a:rPr>
              <a:t>审查效率低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547872"/>
            <a:ext cx="2121408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150" b="0" i="0">
                <a:solidFill>
                  <a:srgbClr val="E6EDF5"/>
                </a:solidFill>
                <a:latin typeface="微软雅黑"/>
                <a:ea typeface="微软雅黑"/>
              </a:rPr>
              <a:t>单份合同动辄数十页，法务逐条比对主体资质、付款条件与违约责任；业务高峰期合同大量积压待审。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1" y="1965960"/>
            <a:ext cx="2578608" cy="3063240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64991" y="2075688"/>
            <a:ext cx="64008" cy="2843784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21024" y="224028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0E1621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971800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650" b="1" i="0">
                <a:solidFill>
                  <a:srgbClr val="6EE7B7"/>
                </a:solidFill>
                <a:latin typeface="微软雅黑"/>
                <a:ea typeface="微软雅黑"/>
              </a:rPr>
              <a:t>标准不统一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1024" y="3547872"/>
            <a:ext cx="2121408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150" b="0" i="0">
                <a:solidFill>
                  <a:srgbClr val="E6EDF5"/>
                </a:solidFill>
                <a:latin typeface="微软雅黑"/>
                <a:ea typeface="微软雅黑"/>
              </a:rPr>
              <a:t>不同法务人员审查尺度不一，风险漏判、误判时有发生，审查质量依赖个人经验。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9904" y="1965960"/>
            <a:ext cx="2578608" cy="3063240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9904" y="2075688"/>
            <a:ext cx="64008" cy="284378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224028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0E1621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2971800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650" b="1" i="0">
                <a:solidFill>
                  <a:srgbClr val="FBBF24"/>
                </a:solidFill>
                <a:latin typeface="微软雅黑"/>
                <a:ea typeface="微软雅黑"/>
              </a:rPr>
              <a:t>风险定位难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3547872"/>
            <a:ext cx="2121408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150" b="0" i="0">
                <a:solidFill>
                  <a:srgbClr val="E6EDF5"/>
                </a:solidFill>
                <a:latin typeface="微软雅黑"/>
                <a:ea typeface="微软雅黑"/>
              </a:rPr>
              <a:t>审批意见与合同原文脱节，业务经办人难以快速定位需要整改的具体条款位置。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14815" y="1965960"/>
            <a:ext cx="2578608" cy="3063240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14815" y="2075688"/>
            <a:ext cx="64008" cy="2843784"/>
          </a:xfrm>
          <a:prstGeom prst="rect">
            <a:avLst/>
          </a:prstGeom>
          <a:solidFill>
            <a:srgbClr val="F8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70847" y="224028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F8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0E1621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0847" y="2971800"/>
            <a:ext cx="2103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650" b="1" i="0">
                <a:solidFill>
                  <a:srgbClr val="F86B6B"/>
                </a:solidFill>
                <a:latin typeface="微软雅黑"/>
                <a:ea typeface="微软雅黑"/>
              </a:rPr>
              <a:t>协同断点多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0847" y="3547872"/>
            <a:ext cx="2121408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150" b="0" i="0">
                <a:solidFill>
                  <a:srgbClr val="E6EDF5"/>
                </a:solidFill>
                <a:latin typeface="微软雅黑"/>
                <a:ea typeface="微软雅黑"/>
              </a:rPr>
              <a:t>审查意见靠手工誊抄回审批系统，过程留痕不完整，整改闭环难以追踪。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44068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0" i="0">
                <a:solidFill>
                  <a:srgbClr val="8FA3B8"/>
                </a:solidFill>
                <a:latin typeface="微软雅黑"/>
                <a:ea typeface="微软雅黑"/>
              </a:rPr>
              <a:t>行业趋势：大语言模型与文档智能解析技术已经成熟，「AI 初审 + 法务复核」正在成为企业法务数字化建设的明确方向。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9224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合同审批智能审查系统 · 项目路演   |   V1.0 · 2026.09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92240"/>
            <a:ext cx="9418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03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4FC3F7"/>
                </a:solidFill>
                <a:latin typeface="微软雅黑"/>
                <a:ea typeface="微软雅黑"/>
              </a:rPr>
              <a:t>02</a:t>
            </a:r>
            <a:r>
              <a:rPr sz="1300" b="1" i="0">
                <a:solidFill>
                  <a:srgbClr val="8FA3B8"/>
                </a:solidFill>
                <a:latin typeface="微软雅黑"/>
                <a:ea typeface="微软雅黑"/>
              </a:rPr>
              <a:t>   项目背景与定位</a:t>
            </a:r>
            <a:r>
              <a:rPr sz="1000" b="0" i="0">
                <a:solidFill>
                  <a:srgbClr val="5A6B83"/>
                </a:solidFill>
                <a:latin typeface="微软雅黑"/>
                <a:ea typeface="微软雅黑"/>
              </a:rPr>
              <a:t>   / POSITIONING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822960" cy="50292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42415"/>
            <a:ext cx="10972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E6EDF5"/>
                </a:solidFill>
                <a:latin typeface="微软雅黑"/>
                <a:ea typeface="微软雅黑"/>
              </a:rPr>
              <a:t>一句话定义与三大业务闭环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577840" cy="3977639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84248"/>
            <a:ext cx="64008" cy="3758183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4FC3F7"/>
                </a:solidFill>
                <a:latin typeface="微软雅黑"/>
                <a:ea typeface="微软雅黑"/>
              </a:rPr>
              <a:t>一句话定义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50749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0" i="0">
                <a:solidFill>
                  <a:srgbClr val="E6EDF5"/>
                </a:solidFill>
                <a:latin typeface="微软雅黑"/>
                <a:ea typeface="微软雅黑"/>
              </a:rPr>
              <a:t>面向企业合同审批场景的智能审查系统——把审批系统里待审的合同自动拉过来，解析成结构化条款，用「规则引擎 + 大模型」双引擎识别法律合规与商业风险，在双栏工作台完成原文与风险的双向高亮定位，由法务确认后把审查意见自动写回审批系统评论区，并导出审查报告。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0916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1" i="0">
                <a:solidFill>
                  <a:srgbClr val="8FA3B8"/>
                </a:solidFill>
                <a:latin typeface="微软雅黑"/>
                <a:ea typeface="微软雅黑"/>
              </a:rPr>
              <a:t>核心关键词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5074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1" i="0">
                <a:solidFill>
                  <a:srgbClr val="6EE7B7"/>
                </a:solidFill>
                <a:latin typeface="微软雅黑"/>
                <a:ea typeface="微软雅黑"/>
              </a:rPr>
              <a:t>自动拉取 · 双引擎审查 · 双向溯源 · 人工确认 · 一键回写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74519"/>
            <a:ext cx="5120640" cy="1207008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984248"/>
            <a:ext cx="64008" cy="987552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6832" y="1993391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50" b="1" i="0">
                <a:solidFill>
                  <a:srgbClr val="4FC3F7"/>
                </a:solidFill>
                <a:latin typeface="微软雅黑"/>
                <a:ea typeface="微软雅黑"/>
              </a:rPr>
              <a:t>闭环一 · 审批触发与自动审查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2" y="2404872"/>
            <a:ext cx="468172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8FA3B8"/>
                </a:solidFill>
                <a:latin typeface="微软雅黑"/>
                <a:ea typeface="微软雅黑"/>
              </a:rPr>
              <a:t>拉取待办 → 解析 → 条款切分 → 双引擎风险判定 → 生成审查摘要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246120"/>
            <a:ext cx="5120640" cy="1207008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355848"/>
            <a:ext cx="64008" cy="987552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56832" y="3364991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50" b="1" i="0">
                <a:solidFill>
                  <a:srgbClr val="6EE7B7"/>
                </a:solidFill>
                <a:latin typeface="微软雅黑"/>
                <a:ea typeface="微软雅黑"/>
              </a:rPr>
              <a:t>闭环二 · 法务复核与协同改写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6832" y="3776472"/>
            <a:ext cx="468172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8FA3B8"/>
                </a:solidFill>
                <a:latin typeface="微软雅黑"/>
                <a:ea typeface="微软雅黑"/>
              </a:rPr>
              <a:t>卡片 ↔ 原文联动核对 → 调整建议、批注 → 一键回写 → 更新回写状态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617720"/>
            <a:ext cx="5120640" cy="1207008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4727448"/>
            <a:ext cx="64008" cy="98755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56832" y="4736592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50" b="1" i="0">
                <a:solidFill>
                  <a:srgbClr val="FBBF24"/>
                </a:solidFill>
                <a:latin typeface="微软雅黑"/>
                <a:ea typeface="微软雅黑"/>
              </a:rPr>
              <a:t>闭环三 · 异常阻塞与重试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6832" y="5148072"/>
            <a:ext cx="468172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8FA3B8"/>
                </a:solidFill>
                <a:latin typeface="微软雅黑"/>
                <a:ea typeface="微软雅黑"/>
              </a:rPr>
              <a:t>解析异常触发阻塞保护 → 记录原因并告警 → 修正后一键重审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9224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合同审批智能审查系统 · 项目路演   |   V1.0 · 2026.09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92240"/>
            <a:ext cx="9418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04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4FC3F7"/>
                </a:solidFill>
                <a:latin typeface="微软雅黑"/>
                <a:ea typeface="微软雅黑"/>
              </a:rPr>
              <a:t>03</a:t>
            </a:r>
            <a:r>
              <a:rPr sz="1300" b="1" i="0">
                <a:solidFill>
                  <a:srgbClr val="8FA3B8"/>
                </a:solidFill>
                <a:latin typeface="微软雅黑"/>
                <a:ea typeface="微软雅黑"/>
              </a:rPr>
              <a:t>   解决方案总览</a:t>
            </a:r>
            <a:r>
              <a:rPr sz="1000" b="0" i="0">
                <a:solidFill>
                  <a:srgbClr val="5A6B83"/>
                </a:solidFill>
                <a:latin typeface="微软雅黑"/>
                <a:ea typeface="微软雅黑"/>
              </a:rPr>
              <a:t>   / CAPABILITIES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822960" cy="50292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42415"/>
            <a:ext cx="10972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E6EDF5"/>
                </a:solidFill>
                <a:latin typeface="微软雅黑"/>
                <a:ea typeface="微软雅黑"/>
              </a:rPr>
              <a:t>五大能力建设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786384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38528"/>
            <a:ext cx="64008" cy="566928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0025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0E1621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828800"/>
            <a:ext cx="25146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E6EDF5"/>
                </a:solidFill>
                <a:latin typeface="微软雅黑"/>
                <a:ea typeface="微软雅黑"/>
              </a:rPr>
              <a:t>文档接入与解析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9080" y="1828800"/>
            <a:ext cx="73152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400"/>
              </a:spcBef>
              <a:spcAft>
                <a:spcPts val="400"/>
              </a:spcAft>
            </a:pPr>
            <a:r>
              <a:rPr sz="1050" b="0" i="0">
                <a:solidFill>
                  <a:srgbClr val="8FA3B8"/>
                </a:solidFill>
                <a:latin typeface="微软雅黑"/>
                <a:ea typeface="微软雅黑"/>
              </a:rPr>
              <a:t>对接审批系统待办或本地上传；DOCX / PDF / 扫描件 OCR 三通道解析；自动提取合同元数据，完成条款层级切分，位置全量留痕。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15768"/>
            <a:ext cx="10881360" cy="786384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825496"/>
            <a:ext cx="64008" cy="566928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2889503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0E1621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715768"/>
            <a:ext cx="25146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E6EDF5"/>
                </a:solidFill>
                <a:latin typeface="微软雅黑"/>
                <a:ea typeface="微软雅黑"/>
              </a:rPr>
              <a:t>智能合规与风险审查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2715768"/>
            <a:ext cx="73152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400"/>
              </a:spcBef>
              <a:spcAft>
                <a:spcPts val="400"/>
              </a:spcAft>
            </a:pPr>
            <a:r>
              <a:rPr sz="1050" b="0" i="0">
                <a:solidFill>
                  <a:srgbClr val="8FA3B8"/>
                </a:solidFill>
                <a:latin typeface="微软雅黑"/>
                <a:ea typeface="微软雅黑"/>
              </a:rPr>
              <a:t>覆盖主体资质、金额支付、违约责任、知识产权、争议管辖五大维度；识别必备条款缺失、权责不对等与高风险表述，输出风险等级与合规依据。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02736"/>
            <a:ext cx="10881360" cy="786384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712463"/>
            <a:ext cx="64008" cy="566928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" y="37764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0E1621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3602736"/>
            <a:ext cx="25146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E6EDF5"/>
                </a:solidFill>
                <a:latin typeface="微软雅黑"/>
                <a:ea typeface="微软雅黑"/>
              </a:rPr>
              <a:t>交互研判与建议生成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3602736"/>
            <a:ext cx="73152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400"/>
              </a:spcBef>
              <a:spcAft>
                <a:spcPts val="400"/>
              </a:spcAft>
            </a:pPr>
            <a:r>
              <a:rPr sz="1050" b="0" i="0">
                <a:solidFill>
                  <a:srgbClr val="8FA3B8"/>
                </a:solidFill>
                <a:latin typeface="微软雅黑"/>
                <a:ea typeface="微软雅黑"/>
              </a:rPr>
              <a:t>原文与审查意见双向锚定高亮；针对风险条款生成可落地的修改示范文本；支持法务批注、采纳与调整，AI 初审以人工确认为准。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489704"/>
            <a:ext cx="10881360" cy="786384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599432"/>
            <a:ext cx="64008" cy="566928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8680" y="46634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0E1621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489704"/>
            <a:ext cx="25146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E6EDF5"/>
                </a:solidFill>
                <a:latin typeface="微软雅黑"/>
                <a:ea typeface="微软雅黑"/>
              </a:rPr>
              <a:t>审批集成与结果回写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69080" y="4489704"/>
            <a:ext cx="73152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400"/>
              </a:spcBef>
              <a:spcAft>
                <a:spcPts val="400"/>
              </a:spcAft>
            </a:pPr>
            <a:r>
              <a:rPr sz="1050" b="0" i="0">
                <a:solidFill>
                  <a:srgbClr val="8FA3B8"/>
                </a:solidFill>
                <a:latin typeface="微软雅黑"/>
                <a:ea typeface="微软雅黑"/>
              </a:rPr>
              <a:t>将审查意见与风险摘要格式化为 Markdown 评论文本，自动写回审批单评论区；回写状态四态跟踪，支持报告（PDF / Markdown）导出。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376672"/>
            <a:ext cx="10881360" cy="786384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5486400"/>
            <a:ext cx="64008" cy="566928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68680" y="5550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0E1621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5376672"/>
            <a:ext cx="25146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E6EDF5"/>
                </a:solidFill>
                <a:latin typeface="微软雅黑"/>
                <a:ea typeface="微软雅黑"/>
              </a:rPr>
              <a:t>规则与模板管理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69080" y="5376672"/>
            <a:ext cx="731520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400"/>
              </a:spcBef>
              <a:spcAft>
                <a:spcPts val="400"/>
              </a:spcAft>
            </a:pPr>
            <a:r>
              <a:rPr sz="1050" b="0" i="0">
                <a:solidFill>
                  <a:srgbClr val="8FA3B8"/>
                </a:solidFill>
                <a:latin typeface="微软雅黑"/>
                <a:ea typeface="微软雅黑"/>
              </a:rPr>
              <a:t>按合同类型维护审查规则项、触发条件与风险分级；标准示范条款库配置化；阻塞任务查看原因并一键重试。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9224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合同审批智能审查系统 · 项目路演   |   V1.0 · 2026.09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492240"/>
            <a:ext cx="9418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05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4FC3F7"/>
                </a:solidFill>
                <a:latin typeface="微软雅黑"/>
                <a:ea typeface="微软雅黑"/>
              </a:rPr>
              <a:t>04</a:t>
            </a:r>
            <a:r>
              <a:rPr sz="1300" b="1" i="0">
                <a:solidFill>
                  <a:srgbClr val="8FA3B8"/>
                </a:solidFill>
                <a:latin typeface="微软雅黑"/>
                <a:ea typeface="微软雅黑"/>
              </a:rPr>
              <a:t>   解决方案总览</a:t>
            </a:r>
            <a:r>
              <a:rPr sz="1000" b="0" i="0">
                <a:solidFill>
                  <a:srgbClr val="5A6B83"/>
                </a:solidFill>
                <a:latin typeface="微软雅黑"/>
                <a:ea typeface="微软雅黑"/>
              </a:rPr>
              <a:t>   / ROLES &amp; RIGHTS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822960" cy="50292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42415"/>
            <a:ext cx="10972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E6EDF5"/>
                </a:solidFill>
                <a:latin typeface="微软雅黑"/>
                <a:ea typeface="微软雅黑"/>
              </a:rPr>
              <a:t>用户角色与权限设计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566160" cy="3291840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75688"/>
            <a:ext cx="64008" cy="3072384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212848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800" b="1" i="0">
                <a:solidFill>
                  <a:srgbClr val="4FC3F7"/>
                </a:solidFill>
                <a:latin typeface="微软雅黑"/>
                <a:ea typeface="微软雅黑"/>
              </a:rPr>
              <a:t>法务审查人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974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8FA3B8"/>
                </a:solidFill>
                <a:latin typeface="微软雅黑"/>
                <a:ea typeface="微软雅黑"/>
              </a:rPr>
              <a:t>Legal Reviewer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154680"/>
            <a:ext cx="30632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700"/>
              </a:spcBef>
              <a:spcAft>
                <a:spcPts val="0"/>
              </a:spcAft>
            </a:pPr>
            <a:r>
              <a:rPr sz="1150" b="1" i="0">
                <a:solidFill>
                  <a:srgbClr val="4FC3F7"/>
                </a:solidFill>
                <a:latin typeface="微软雅黑"/>
                <a:ea typeface="微软雅黑"/>
              </a:rPr>
              <a:t>▍ </a:t>
            </a:r>
            <a:r>
              <a:rPr sz="1150" b="0" i="0">
                <a:solidFill>
                  <a:srgbClr val="E6EDF5"/>
                </a:solidFill>
                <a:latin typeface="微软雅黑"/>
                <a:ea typeface="微软雅黑"/>
              </a:rPr>
              <a:t>查看合同审查详情与风险证据</a:t>
            </a:r>
          </a:p>
          <a:p>
            <a:pPr>
              <a:lnSpc>
                <a:spcPct val="116000"/>
              </a:lnSpc>
              <a:spcBef>
                <a:spcPts val="700"/>
              </a:spcBef>
              <a:spcAft>
                <a:spcPts val="0"/>
              </a:spcAft>
            </a:pPr>
            <a:r>
              <a:rPr sz="1150" b="1" i="0">
                <a:solidFill>
                  <a:srgbClr val="4FC3F7"/>
                </a:solidFill>
                <a:latin typeface="微软雅黑"/>
                <a:ea typeface="微软雅黑"/>
              </a:rPr>
              <a:t>▍ </a:t>
            </a:r>
            <a:r>
              <a:rPr sz="1150" b="0" i="0">
                <a:solidFill>
                  <a:srgbClr val="E6EDF5"/>
                </a:solidFill>
                <a:latin typeface="微软雅黑"/>
                <a:ea typeface="微软雅黑"/>
              </a:rPr>
              <a:t>核对原文高亮定位</a:t>
            </a:r>
          </a:p>
          <a:p>
            <a:pPr>
              <a:lnSpc>
                <a:spcPct val="116000"/>
              </a:lnSpc>
              <a:spcBef>
                <a:spcPts val="700"/>
              </a:spcBef>
              <a:spcAft>
                <a:spcPts val="0"/>
              </a:spcAft>
            </a:pPr>
            <a:r>
              <a:rPr sz="1150" b="1" i="0">
                <a:solidFill>
                  <a:srgbClr val="4FC3F7"/>
                </a:solidFill>
                <a:latin typeface="微软雅黑"/>
                <a:ea typeface="微软雅黑"/>
              </a:rPr>
              <a:t>▍ </a:t>
            </a:r>
            <a:r>
              <a:rPr sz="1150" b="0" i="0">
                <a:solidFill>
                  <a:srgbClr val="E6EDF5"/>
                </a:solidFill>
                <a:latin typeface="微软雅黑"/>
                <a:ea typeface="微软雅黑"/>
              </a:rPr>
              <a:t>采纳 / 调整修改建议并编辑</a:t>
            </a:r>
          </a:p>
          <a:p>
            <a:pPr>
              <a:lnSpc>
                <a:spcPct val="116000"/>
              </a:lnSpc>
              <a:spcBef>
                <a:spcPts val="700"/>
              </a:spcBef>
              <a:spcAft>
                <a:spcPts val="0"/>
              </a:spcAft>
            </a:pPr>
            <a:r>
              <a:rPr sz="1150" b="1" i="0">
                <a:solidFill>
                  <a:srgbClr val="4FC3F7"/>
                </a:solidFill>
                <a:latin typeface="微软雅黑"/>
                <a:ea typeface="微软雅黑"/>
              </a:rPr>
              <a:t>▍ </a:t>
            </a:r>
            <a:r>
              <a:rPr sz="1150" b="0" i="0">
                <a:solidFill>
                  <a:srgbClr val="E6EDF5"/>
                </a:solidFill>
                <a:latin typeface="微软雅黑"/>
                <a:ea typeface="微软雅黑"/>
              </a:rPr>
              <a:t>补录法务意见、触发审批回写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965960"/>
            <a:ext cx="3566160" cy="3291840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07408" y="2075688"/>
            <a:ext cx="64008" cy="3072384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0016" y="2212848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800" b="1" i="0">
                <a:solidFill>
                  <a:srgbClr val="6EE7B7"/>
                </a:solidFill>
                <a:latin typeface="微软雅黑"/>
                <a:ea typeface="微软雅黑"/>
              </a:rPr>
              <a:t>业务经办人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0016" y="26974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8FA3B8"/>
                </a:solidFill>
                <a:latin typeface="微软雅黑"/>
                <a:ea typeface="微软雅黑"/>
              </a:rPr>
              <a:t>Business Owner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3154680"/>
            <a:ext cx="30632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700"/>
              </a:spcBef>
              <a:spcAft>
                <a:spcPts val="0"/>
              </a:spcAft>
            </a:pPr>
            <a:r>
              <a:rPr sz="1150" b="1" i="0">
                <a:solidFill>
                  <a:srgbClr val="6EE7B7"/>
                </a:solidFill>
                <a:latin typeface="微软雅黑"/>
                <a:ea typeface="微软雅黑"/>
              </a:rPr>
              <a:t>▍ </a:t>
            </a:r>
            <a:r>
              <a:rPr sz="1150" b="0" i="0">
                <a:solidFill>
                  <a:srgbClr val="E6EDF5"/>
                </a:solidFill>
                <a:latin typeface="微软雅黑"/>
                <a:ea typeface="微软雅黑"/>
              </a:rPr>
              <a:t>提交合同审查申请</a:t>
            </a:r>
          </a:p>
          <a:p>
            <a:pPr>
              <a:lnSpc>
                <a:spcPct val="116000"/>
              </a:lnSpc>
              <a:spcBef>
                <a:spcPts val="700"/>
              </a:spcBef>
              <a:spcAft>
                <a:spcPts val="0"/>
              </a:spcAft>
            </a:pPr>
            <a:r>
              <a:rPr sz="1150" b="1" i="0">
                <a:solidFill>
                  <a:srgbClr val="6EE7B7"/>
                </a:solidFill>
                <a:latin typeface="微软雅黑"/>
                <a:ea typeface="微软雅黑"/>
              </a:rPr>
              <a:t>▍ </a:t>
            </a:r>
            <a:r>
              <a:rPr sz="1150" b="0" i="0">
                <a:solidFill>
                  <a:srgbClr val="E6EDF5"/>
                </a:solidFill>
                <a:latin typeface="微软雅黑"/>
                <a:ea typeface="微软雅黑"/>
              </a:rPr>
              <a:t>查看风险点与整改建议</a:t>
            </a:r>
          </a:p>
          <a:p>
            <a:pPr>
              <a:lnSpc>
                <a:spcPct val="116000"/>
              </a:lnSpc>
              <a:spcBef>
                <a:spcPts val="700"/>
              </a:spcBef>
              <a:spcAft>
                <a:spcPts val="0"/>
              </a:spcAft>
            </a:pPr>
            <a:r>
              <a:rPr sz="1150" b="1" i="0">
                <a:solidFill>
                  <a:srgbClr val="6EE7B7"/>
                </a:solidFill>
                <a:latin typeface="微软雅黑"/>
                <a:ea typeface="微软雅黑"/>
              </a:rPr>
              <a:t>▍ </a:t>
            </a:r>
            <a:r>
              <a:rPr sz="1150" b="0" i="0">
                <a:solidFill>
                  <a:srgbClr val="E6EDF5"/>
                </a:solidFill>
                <a:latin typeface="微软雅黑"/>
                <a:ea typeface="微软雅黑"/>
              </a:rPr>
              <a:t>跟踪审查与回写进度</a:t>
            </a:r>
          </a:p>
          <a:p>
            <a:pPr>
              <a:lnSpc>
                <a:spcPct val="116000"/>
              </a:lnSpc>
              <a:spcBef>
                <a:spcPts val="700"/>
              </a:spcBef>
              <a:spcAft>
                <a:spcPts val="0"/>
              </a:spcAft>
            </a:pPr>
            <a:r>
              <a:rPr sz="1150" b="1" i="0">
                <a:solidFill>
                  <a:srgbClr val="6EE7B7"/>
                </a:solidFill>
                <a:latin typeface="微软雅黑"/>
                <a:ea typeface="微软雅黑"/>
              </a:rPr>
              <a:t>▍ </a:t>
            </a:r>
            <a:r>
              <a:rPr sz="1150" b="0" i="0">
                <a:solidFill>
                  <a:srgbClr val="E6EDF5"/>
                </a:solidFill>
                <a:latin typeface="微软雅黑"/>
                <a:ea typeface="微软雅黑"/>
              </a:rPr>
              <a:t>下载整改对比报告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4736" y="1965960"/>
            <a:ext cx="3566160" cy="3291840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74736" y="2075688"/>
            <a:ext cx="64008" cy="307238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7344" y="2212848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800" b="1" i="0">
                <a:solidFill>
                  <a:srgbClr val="FBBF24"/>
                </a:solidFill>
                <a:latin typeface="微软雅黑"/>
                <a:ea typeface="微软雅黑"/>
              </a:rPr>
              <a:t>系统管理员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7344" y="26974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8FA3B8"/>
                </a:solidFill>
                <a:latin typeface="微软雅黑"/>
                <a:ea typeface="微软雅黑"/>
              </a:rPr>
              <a:t>Administrator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7344" y="3154680"/>
            <a:ext cx="30632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700"/>
              </a:spcBef>
              <a:spcAft>
                <a:spcPts val="0"/>
              </a:spcAft>
            </a:pPr>
            <a:r>
              <a:rPr sz="1150" b="1" i="0">
                <a:solidFill>
                  <a:srgbClr val="FBBF24"/>
                </a:solidFill>
                <a:latin typeface="微软雅黑"/>
                <a:ea typeface="微软雅黑"/>
              </a:rPr>
              <a:t>▍ </a:t>
            </a:r>
            <a:r>
              <a:rPr sz="1150" b="0" i="0">
                <a:solidFill>
                  <a:srgbClr val="E6EDF5"/>
                </a:solidFill>
                <a:latin typeface="微软雅黑"/>
                <a:ea typeface="微软雅黑"/>
              </a:rPr>
              <a:t>配置审批系统对接参数</a:t>
            </a:r>
          </a:p>
          <a:p>
            <a:pPr>
              <a:lnSpc>
                <a:spcPct val="116000"/>
              </a:lnSpc>
              <a:spcBef>
                <a:spcPts val="700"/>
              </a:spcBef>
              <a:spcAft>
                <a:spcPts val="0"/>
              </a:spcAft>
            </a:pPr>
            <a:r>
              <a:rPr sz="1150" b="1" i="0">
                <a:solidFill>
                  <a:srgbClr val="FBBF24"/>
                </a:solidFill>
                <a:latin typeface="微软雅黑"/>
                <a:ea typeface="微软雅黑"/>
              </a:rPr>
              <a:t>▍ </a:t>
            </a:r>
            <a:r>
              <a:rPr sz="1150" b="0" i="0">
                <a:solidFill>
                  <a:srgbClr val="E6EDF5"/>
                </a:solidFill>
                <a:latin typeface="微软雅黑"/>
                <a:ea typeface="微软雅黑"/>
              </a:rPr>
              <a:t>维护审查规则与示范条款库</a:t>
            </a:r>
          </a:p>
          <a:p>
            <a:pPr>
              <a:lnSpc>
                <a:spcPct val="116000"/>
              </a:lnSpc>
              <a:spcBef>
                <a:spcPts val="700"/>
              </a:spcBef>
              <a:spcAft>
                <a:spcPts val="0"/>
              </a:spcAft>
            </a:pPr>
            <a:r>
              <a:rPr sz="1150" b="1" i="0">
                <a:solidFill>
                  <a:srgbClr val="FBBF24"/>
                </a:solidFill>
                <a:latin typeface="微软雅黑"/>
                <a:ea typeface="微软雅黑"/>
              </a:rPr>
              <a:t>▍ </a:t>
            </a:r>
            <a:r>
              <a:rPr sz="1150" b="0" i="0">
                <a:solidFill>
                  <a:srgbClr val="E6EDF5"/>
                </a:solidFill>
                <a:latin typeface="微软雅黑"/>
                <a:ea typeface="微软雅黑"/>
              </a:rPr>
              <a:t>监控审查任务运行状态</a:t>
            </a:r>
          </a:p>
          <a:p>
            <a:pPr>
              <a:lnSpc>
                <a:spcPct val="116000"/>
              </a:lnSpc>
              <a:spcBef>
                <a:spcPts val="700"/>
              </a:spcBef>
              <a:spcAft>
                <a:spcPts val="0"/>
              </a:spcAft>
            </a:pPr>
            <a:r>
              <a:rPr sz="1150" b="1" i="0">
                <a:solidFill>
                  <a:srgbClr val="FBBF24"/>
                </a:solidFill>
                <a:latin typeface="微软雅黑"/>
                <a:ea typeface="微软雅黑"/>
              </a:rPr>
              <a:t>▍ </a:t>
            </a:r>
            <a:r>
              <a:rPr sz="1150" b="0" i="0">
                <a:solidFill>
                  <a:srgbClr val="E6EDF5"/>
                </a:solidFill>
                <a:latin typeface="微软雅黑"/>
                <a:ea typeface="微软雅黑"/>
              </a:rPr>
              <a:t>处理阻塞任务与重试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53212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0" i="0">
                <a:solidFill>
                  <a:srgbClr val="8FA3B8"/>
                </a:solidFill>
                <a:latin typeface="微软雅黑"/>
                <a:ea typeface="微软雅黑"/>
              </a:rPr>
              <a:t>权限落地：前端按钮级隐藏（不同角色看到不同操作）+ 后端接口级校验（越权请求直接拒绝），双重隔离。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9224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合同审批智能审查系统 · 项目路演   |   V1.0 · 2026.09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92240"/>
            <a:ext cx="9418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06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4FC3F7"/>
                </a:solidFill>
                <a:latin typeface="微软雅黑"/>
                <a:ea typeface="微软雅黑"/>
              </a:rPr>
              <a:t>05</a:t>
            </a:r>
            <a:r>
              <a:rPr sz="1300" b="1" i="0">
                <a:solidFill>
                  <a:srgbClr val="8FA3B8"/>
                </a:solidFill>
                <a:latin typeface="微软雅黑"/>
                <a:ea typeface="微软雅黑"/>
              </a:rPr>
              <a:t>   解决方案总览</a:t>
            </a:r>
            <a:r>
              <a:rPr sz="1000" b="0" i="0">
                <a:solidFill>
                  <a:srgbClr val="5A6B83"/>
                </a:solidFill>
                <a:latin typeface="微软雅黑"/>
                <a:ea typeface="微软雅黑"/>
              </a:rPr>
              <a:t>   / FUNCTION 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822960" cy="50292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42415"/>
            <a:ext cx="10972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E6EDF5"/>
                </a:solidFill>
                <a:latin typeface="微软雅黑"/>
                <a:ea typeface="微软雅黑"/>
              </a:rPr>
              <a:t>功能版图：三大页面 + 五大模块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577840" cy="1133856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84248"/>
            <a:ext cx="64008" cy="9144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84248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450" b="1" i="0">
                <a:solidFill>
                  <a:srgbClr val="4FC3F7"/>
                </a:solidFill>
                <a:latin typeface="微软雅黑"/>
                <a:ea typeface="微软雅黑"/>
              </a:rPr>
              <a:t>合同审查大盘页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04872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050" b="0" i="0">
                <a:solidFill>
                  <a:srgbClr val="8FA3B8"/>
                </a:solidFill>
                <a:latin typeface="微软雅黑"/>
                <a:ea typeface="微软雅黑"/>
              </a:rPr>
              <a:t>统计卡片 · 待审列表 · 多条件筛选 · 手动上传 / 批量拉取 · 阻塞任务重试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172968"/>
            <a:ext cx="5577840" cy="1133856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282696"/>
            <a:ext cx="64008" cy="914400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282696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450" b="1" i="0">
                <a:solidFill>
                  <a:srgbClr val="6EE7B7"/>
                </a:solidFill>
                <a:latin typeface="微软雅黑"/>
                <a:ea typeface="微软雅黑"/>
              </a:rPr>
              <a:t>智能审查工作台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703320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050" b="0" i="0">
                <a:solidFill>
                  <a:srgbClr val="8FA3B8"/>
                </a:solidFill>
                <a:latin typeface="微软雅黑"/>
                <a:ea typeface="微软雅黑"/>
              </a:rPr>
              <a:t>双栏合同视窗（左文右卡）· 风险分级卡片 · 法务批注 · 一键回写 · 报告导出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71416"/>
            <a:ext cx="5577840" cy="1133856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581144"/>
            <a:ext cx="64008" cy="9144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581144"/>
            <a:ext cx="5074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450" b="1" i="0">
                <a:solidFill>
                  <a:srgbClr val="FBBF24"/>
                </a:solidFill>
                <a:latin typeface="微软雅黑"/>
                <a:ea typeface="微软雅黑"/>
              </a:rPr>
              <a:t>合规规则与模板页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5001768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050" b="0" i="0">
                <a:solidFill>
                  <a:srgbClr val="8FA3B8"/>
                </a:solidFill>
                <a:latin typeface="微软雅黑"/>
                <a:ea typeface="微软雅黑"/>
              </a:rPr>
              <a:t>规则树状列表 · 触发条件编辑 · 风险分级配置 · 标准示范条款库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48132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1" i="0">
                <a:solidFill>
                  <a:srgbClr val="E6EDF5"/>
                </a:solidFill>
                <a:latin typeface="微软雅黑"/>
                <a:ea typeface="微软雅黑"/>
              </a:rPr>
              <a:t>五大前端模块（对应页面内聚）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883664"/>
            <a:ext cx="5120640" cy="694944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1975104"/>
            <a:ext cx="54864" cy="512064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0256" y="1947672"/>
            <a:ext cx="4800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1" i="0">
                <a:solidFill>
                  <a:srgbClr val="E6EDF5"/>
                </a:solidFill>
                <a:latin typeface="微软雅黑"/>
                <a:ea typeface="微软雅黑"/>
              </a:rPr>
              <a:t>大盘与列表模块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0256" y="2249424"/>
            <a:ext cx="4800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50" b="0" i="0">
                <a:solidFill>
                  <a:srgbClr val="8FA3B8"/>
                </a:solidFill>
                <a:latin typeface="微软雅黑"/>
                <a:ea typeface="微软雅黑"/>
              </a:rPr>
              <a:t>列表渲染 · 多条件检索 · 状态标签 · 批量操作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2688336"/>
            <a:ext cx="5120640" cy="694944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2779776"/>
            <a:ext cx="54864" cy="512064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0256" y="2752344"/>
            <a:ext cx="4800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1" i="0">
                <a:solidFill>
                  <a:srgbClr val="E6EDF5"/>
                </a:solidFill>
                <a:latin typeface="微软雅黑"/>
                <a:ea typeface="微软雅黑"/>
              </a:rPr>
              <a:t>文档视窗模块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0256" y="3054096"/>
            <a:ext cx="4800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50" b="0" i="0">
                <a:solidFill>
                  <a:srgbClr val="8FA3B8"/>
                </a:solidFill>
                <a:latin typeface="微软雅黑"/>
                <a:ea typeface="微软雅黑"/>
              </a:rPr>
              <a:t>PDF / Word 在线预览 · 文本层高亮 · 跨页平滑滚动定位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493008"/>
            <a:ext cx="5120640" cy="694944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3584448"/>
            <a:ext cx="54864" cy="512064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0256" y="3557016"/>
            <a:ext cx="4800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1" i="0">
                <a:solidFill>
                  <a:srgbClr val="E6EDF5"/>
                </a:solidFill>
                <a:latin typeface="微软雅黑"/>
                <a:ea typeface="微软雅黑"/>
              </a:rPr>
              <a:t>风险卡片模块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0256" y="3858768"/>
            <a:ext cx="4800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50" b="0" i="0">
                <a:solidFill>
                  <a:srgbClr val="8FA3B8"/>
                </a:solidFill>
                <a:latin typeface="微软雅黑"/>
                <a:ea typeface="微软雅黑"/>
              </a:rPr>
              <a:t>等级标签 · 条款差异对比 · 建议一键复制与采纳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4297680"/>
            <a:ext cx="5120640" cy="694944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4389120"/>
            <a:ext cx="54864" cy="512064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0256" y="4361688"/>
            <a:ext cx="4800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1" i="0">
                <a:solidFill>
                  <a:srgbClr val="E6EDF5"/>
                </a:solidFill>
                <a:latin typeface="微软雅黑"/>
                <a:ea typeface="微软雅黑"/>
              </a:rPr>
              <a:t>协同回写模块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0256" y="4663440"/>
            <a:ext cx="4800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50" b="0" i="0">
                <a:solidFill>
                  <a:srgbClr val="8FA3B8"/>
                </a:solidFill>
                <a:latin typeface="微软雅黑"/>
                <a:ea typeface="微软雅黑"/>
              </a:rPr>
              <a:t>批注表单 · 回写状态轮询 · 报告导出预览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5102352"/>
            <a:ext cx="5120640" cy="694944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00800" y="5193792"/>
            <a:ext cx="54864" cy="512064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0256" y="5166360"/>
            <a:ext cx="4800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1" i="0">
                <a:solidFill>
                  <a:srgbClr val="E6EDF5"/>
                </a:solidFill>
                <a:latin typeface="微软雅黑"/>
                <a:ea typeface="微软雅黑"/>
              </a:rPr>
              <a:t>规则配置模块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0256" y="5468112"/>
            <a:ext cx="4800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50" b="0" i="0">
                <a:solidFill>
                  <a:srgbClr val="8FA3B8"/>
                </a:solidFill>
                <a:latin typeface="微软雅黑"/>
                <a:ea typeface="微软雅黑"/>
              </a:rPr>
              <a:t>规则树状列表 · 条件编辑表单 · 模板库维护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49224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合同审批智能审查系统 · 项目路演   |   V1.0 · 2026.09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0" y="6492240"/>
            <a:ext cx="9418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07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4FC3F7"/>
                </a:solidFill>
                <a:latin typeface="微软雅黑"/>
                <a:ea typeface="微软雅黑"/>
              </a:rPr>
              <a:t>06</a:t>
            </a:r>
            <a:r>
              <a:rPr sz="1300" b="1" i="0">
                <a:solidFill>
                  <a:srgbClr val="8FA3B8"/>
                </a:solidFill>
                <a:latin typeface="微软雅黑"/>
                <a:ea typeface="微软雅黑"/>
              </a:rPr>
              <a:t>   系统架构与技术选型</a:t>
            </a:r>
            <a:r>
              <a:rPr sz="1000" b="0" i="0">
                <a:solidFill>
                  <a:srgbClr val="5A6B83"/>
                </a:solidFill>
                <a:latin typeface="微软雅黑"/>
                <a:ea typeface="微软雅黑"/>
              </a:rPr>
              <a:t>   / BACKEND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822960" cy="50292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42415"/>
            <a:ext cx="10972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E6EDF5"/>
                </a:solidFill>
                <a:latin typeface="微软雅黑"/>
                <a:ea typeface="微软雅黑"/>
              </a:rPr>
              <a:t>后端五大引擎模块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10881360" cy="768096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84248"/>
            <a:ext cx="64008" cy="54864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03911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0E1621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874519"/>
            <a:ext cx="26517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E6EDF5"/>
                </a:solidFill>
                <a:latin typeface="微软雅黑"/>
                <a:ea typeface="微软雅黑"/>
              </a:rPr>
              <a:t>接入与流转模块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874519"/>
            <a:ext cx="717804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8FA3B8"/>
                </a:solidFill>
                <a:latin typeface="微软雅黑"/>
                <a:ea typeface="微软雅黑"/>
              </a:rPr>
              <a:t>审批系统事件监听 · 附件去重下载 · 任务状态机驱动 · 阻塞重试控制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43200"/>
            <a:ext cx="10881360" cy="768096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852928"/>
            <a:ext cx="64008" cy="548640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29077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0E1621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743200"/>
            <a:ext cx="26517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E6EDF5"/>
                </a:solidFill>
                <a:latin typeface="微软雅黑"/>
                <a:ea typeface="微软雅黑"/>
              </a:rPr>
              <a:t>文档解析引擎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743200"/>
            <a:ext cx="717804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8FA3B8"/>
                </a:solidFill>
                <a:latin typeface="微软雅黑"/>
                <a:ea typeface="微软雅黑"/>
              </a:rPr>
              <a:t>DOCX 结构解析 / PDF 文本抽取 / 扫描件 OCR，输出分段段落树与元数据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11879"/>
            <a:ext cx="10881360" cy="768096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721607"/>
            <a:ext cx="64008" cy="54864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" y="377647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0E1621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3611879"/>
            <a:ext cx="26517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E6EDF5"/>
                </a:solidFill>
                <a:latin typeface="微软雅黑"/>
                <a:ea typeface="微软雅黑"/>
              </a:rPr>
              <a:t>智能审查引擎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611879"/>
            <a:ext cx="717804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8FA3B8"/>
                </a:solidFill>
                <a:latin typeface="微软雅黑"/>
                <a:ea typeface="微软雅黑"/>
              </a:rPr>
              <a:t>规则模式匹配 + 大模型语义研判，执行条款合规性分析，输出风险证据链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480559"/>
            <a:ext cx="10881360" cy="768096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590288"/>
            <a:ext cx="64008" cy="548640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8680" y="4645151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0E1621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480559"/>
            <a:ext cx="26517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E6EDF5"/>
                </a:solidFill>
                <a:latin typeface="微软雅黑"/>
                <a:ea typeface="微软雅黑"/>
              </a:rPr>
              <a:t>条款推荐引擎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4480559"/>
            <a:ext cx="717804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8FA3B8"/>
                </a:solidFill>
                <a:latin typeface="微软雅黑"/>
                <a:ea typeface="微软雅黑"/>
              </a:rPr>
              <a:t>基于标准条款知识库与大模型，生成针对性修改建议与改写版本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349240"/>
            <a:ext cx="10881360" cy="768096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5458968"/>
            <a:ext cx="64008" cy="54864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68680" y="5513831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0E1621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5349240"/>
            <a:ext cx="26517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E6EDF5"/>
                </a:solidFill>
                <a:latin typeface="微软雅黑"/>
                <a:ea typeface="微软雅黑"/>
              </a:rPr>
              <a:t>审批回写模块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5349240"/>
            <a:ext cx="717804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8FA3B8"/>
                </a:solidFill>
                <a:latin typeface="微软雅黑"/>
                <a:ea typeface="微软雅黑"/>
              </a:rPr>
              <a:t>构建格式化审查意见文本，调用审批系统评论接口写回，全程记录日志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9224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合同审批智能审查系统 · 项目路演   |   V1.0 · 2026.09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492240"/>
            <a:ext cx="9418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08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4FC3F7"/>
                </a:solidFill>
                <a:latin typeface="微软雅黑"/>
                <a:ea typeface="微软雅黑"/>
              </a:rPr>
              <a:t>07</a:t>
            </a:r>
            <a:r>
              <a:rPr sz="1300" b="1" i="0">
                <a:solidFill>
                  <a:srgbClr val="8FA3B8"/>
                </a:solidFill>
                <a:latin typeface="微软雅黑"/>
                <a:ea typeface="微软雅黑"/>
              </a:rPr>
              <a:t>   系统架构与技术选型</a:t>
            </a:r>
            <a:r>
              <a:rPr sz="1000" b="0" i="0">
                <a:solidFill>
                  <a:srgbClr val="5A6B83"/>
                </a:solidFill>
                <a:latin typeface="微软雅黑"/>
                <a:ea typeface="微软雅黑"/>
              </a:rPr>
              <a:t>   / CORE FLOWS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822960" cy="50292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42415"/>
            <a:ext cx="10972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E6EDF5"/>
                </a:solidFill>
                <a:latin typeface="微软雅黑"/>
                <a:ea typeface="微软雅黑"/>
              </a:rPr>
              <a:t>三条核心业务流程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566160" cy="4160520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38528"/>
            <a:ext cx="64008" cy="3941063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29968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450" b="1" i="0">
                <a:solidFill>
                  <a:srgbClr val="4FC3F7"/>
                </a:solidFill>
                <a:latin typeface="微软雅黑"/>
                <a:ea typeface="微软雅黑"/>
              </a:rPr>
              <a:t>① 审批触发与自动审查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569463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B293A"/>
          </a:solidFill>
          <a:ln w="952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6946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1" i="0">
                <a:solidFill>
                  <a:srgbClr val="4FC3F7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542032"/>
            <a:ext cx="2743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E6EDF5"/>
                </a:solidFill>
                <a:latin typeface="微软雅黑"/>
                <a:ea typeface="微软雅黑"/>
              </a:rPr>
              <a:t>审批系统发起审批 / 审查系统拉取待办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37844" y="2852927"/>
            <a:ext cx="27432" cy="219456"/>
          </a:xfrm>
          <a:prstGeom prst="rect">
            <a:avLst/>
          </a:prstGeom>
          <a:solidFill>
            <a:srgbClr val="24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3118103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B293A"/>
          </a:solidFill>
          <a:ln w="952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1810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1" i="0">
                <a:solidFill>
                  <a:srgbClr val="4FC3F7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3090672"/>
            <a:ext cx="2743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E6EDF5"/>
                </a:solidFill>
                <a:latin typeface="微软雅黑"/>
                <a:ea typeface="微软雅黑"/>
              </a:rPr>
              <a:t>下载合同附件并校验完整性（去重）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37844" y="3401568"/>
            <a:ext cx="27432" cy="219456"/>
          </a:xfrm>
          <a:prstGeom prst="rect">
            <a:avLst/>
          </a:prstGeom>
          <a:solidFill>
            <a:srgbClr val="24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366674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B293A"/>
          </a:solidFill>
          <a:ln w="952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66674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1" i="0">
                <a:solidFill>
                  <a:srgbClr val="4FC3F7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8448" y="3639311"/>
            <a:ext cx="2743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E6EDF5"/>
                </a:solidFill>
                <a:latin typeface="微软雅黑"/>
                <a:ea typeface="微软雅黑"/>
              </a:rPr>
              <a:t>启动文档解析与 OCR 识别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7844" y="3950207"/>
            <a:ext cx="27432" cy="219456"/>
          </a:xfrm>
          <a:prstGeom prst="rect">
            <a:avLst/>
          </a:prstGeom>
          <a:solidFill>
            <a:srgbClr val="24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421538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B293A"/>
          </a:solidFill>
          <a:ln w="952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21538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1" i="0">
                <a:solidFill>
                  <a:srgbClr val="4FC3F7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4187952"/>
            <a:ext cx="2743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E6EDF5"/>
                </a:solidFill>
                <a:latin typeface="微软雅黑"/>
                <a:ea typeface="微软雅黑"/>
              </a:rPr>
              <a:t>提取核心条款，执行规则 + LLM 合规判定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7844" y="4498848"/>
            <a:ext cx="27432" cy="219456"/>
          </a:xfrm>
          <a:prstGeom prst="rect">
            <a:avLst/>
          </a:prstGeom>
          <a:solidFill>
            <a:srgbClr val="24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4400" y="476402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B293A"/>
          </a:solidFill>
          <a:ln w="952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76402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1" i="0">
                <a:solidFill>
                  <a:srgbClr val="4FC3F7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" y="4736592"/>
            <a:ext cx="2743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E6EDF5"/>
                </a:solidFill>
                <a:latin typeface="微软雅黑"/>
                <a:ea typeface="微软雅黑"/>
              </a:rPr>
              <a:t>生成风险卡片与修改建议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37844" y="5047488"/>
            <a:ext cx="27432" cy="219456"/>
          </a:xfrm>
          <a:prstGeom prst="rect">
            <a:avLst/>
          </a:prstGeom>
          <a:solidFill>
            <a:srgbClr val="24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4400" y="531266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B293A"/>
          </a:solidFill>
          <a:ln w="9525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1266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1" i="0">
                <a:solidFill>
                  <a:srgbClr val="4FC3F7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98448" y="5285231"/>
            <a:ext cx="2743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E6EDF5"/>
                </a:solidFill>
                <a:latin typeface="微软雅黑"/>
                <a:ea typeface="微软雅黑"/>
              </a:rPr>
              <a:t>计算总风险等级与摘要，置为审查完成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07408" y="1828800"/>
            <a:ext cx="3566160" cy="4160520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07408" y="1938528"/>
            <a:ext cx="64008" cy="3941063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81728" y="2029968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450" b="1" i="0">
                <a:solidFill>
                  <a:srgbClr val="6EE7B7"/>
                </a:solidFill>
                <a:latin typeface="微软雅黑"/>
                <a:ea typeface="微软雅黑"/>
              </a:rPr>
              <a:t>② 法务复核与协同改写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681728" y="2569463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B293A"/>
          </a:solidFill>
          <a:ln w="952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81728" y="256946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1" i="0">
                <a:solidFill>
                  <a:srgbClr val="6EE7B7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65776" y="2542032"/>
            <a:ext cx="2743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E6EDF5"/>
                </a:solidFill>
                <a:latin typeface="微软雅黑"/>
                <a:ea typeface="微软雅黑"/>
              </a:rPr>
              <a:t>工作台打开待复核合同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05172" y="2852927"/>
            <a:ext cx="27432" cy="219456"/>
          </a:xfrm>
          <a:prstGeom prst="rect">
            <a:avLst/>
          </a:prstGeom>
          <a:solidFill>
            <a:srgbClr val="24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681728" y="3118103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B293A"/>
          </a:solidFill>
          <a:ln w="952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81728" y="311810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1" i="0">
                <a:solidFill>
                  <a:srgbClr val="6EE7B7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65776" y="3090672"/>
            <a:ext cx="2743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E6EDF5"/>
                </a:solidFill>
                <a:latin typeface="微软雅黑"/>
                <a:ea typeface="微软雅黑"/>
              </a:rPr>
              <a:t>点击风险卡片，原文高亮联动定位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05172" y="3401568"/>
            <a:ext cx="27432" cy="219456"/>
          </a:xfrm>
          <a:prstGeom prst="rect">
            <a:avLst/>
          </a:prstGeom>
          <a:solidFill>
            <a:srgbClr val="24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681728" y="366674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B293A"/>
          </a:solidFill>
          <a:ln w="952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81728" y="366674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1" i="0">
                <a:solidFill>
                  <a:srgbClr val="6EE7B7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65776" y="3639311"/>
            <a:ext cx="2743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E6EDF5"/>
                </a:solidFill>
                <a:latin typeface="微软雅黑"/>
                <a:ea typeface="微软雅黑"/>
              </a:rPr>
              <a:t>核对风险点，确认 / 调整修改建议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05172" y="3950207"/>
            <a:ext cx="27432" cy="219456"/>
          </a:xfrm>
          <a:prstGeom prst="rect">
            <a:avLst/>
          </a:prstGeom>
          <a:solidFill>
            <a:srgbClr val="24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681728" y="421538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B293A"/>
          </a:solidFill>
          <a:ln w="952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81728" y="421538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1" i="0">
                <a:solidFill>
                  <a:srgbClr val="6EE7B7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65776" y="4187952"/>
            <a:ext cx="2743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E6EDF5"/>
                </a:solidFill>
                <a:latin typeface="微软雅黑"/>
                <a:ea typeface="微软雅黑"/>
              </a:rPr>
              <a:t>录入补充法务意见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05172" y="4498848"/>
            <a:ext cx="27432" cy="219456"/>
          </a:xfrm>
          <a:prstGeom prst="rect">
            <a:avLst/>
          </a:prstGeom>
          <a:solidFill>
            <a:srgbClr val="24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681728" y="476402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B293A"/>
          </a:solidFill>
          <a:ln w="952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681728" y="476402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1" i="0">
                <a:solidFill>
                  <a:srgbClr val="6EE7B7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65776" y="4736592"/>
            <a:ext cx="2743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E6EDF5"/>
                </a:solidFill>
                <a:latin typeface="微软雅黑"/>
                <a:ea typeface="微软雅黑"/>
              </a:rPr>
              <a:t>点击「写回审批意见」回写评论区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805172" y="5047488"/>
            <a:ext cx="27432" cy="219456"/>
          </a:xfrm>
          <a:prstGeom prst="rect">
            <a:avLst/>
          </a:prstGeom>
          <a:solidFill>
            <a:srgbClr val="24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681728" y="531266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B293A"/>
          </a:solidFill>
          <a:ln w="952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681728" y="531266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1" i="0">
                <a:solidFill>
                  <a:srgbClr val="6EE7B7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65776" y="5285231"/>
            <a:ext cx="2743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E6EDF5"/>
                </a:solidFill>
                <a:latin typeface="微软雅黑"/>
                <a:ea typeface="微软雅黑"/>
              </a:rPr>
              <a:t>回写状态联动更新，报告可下载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174736" y="1828800"/>
            <a:ext cx="3566160" cy="4160520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174736" y="1938528"/>
            <a:ext cx="64008" cy="3941063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449056" y="2029968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450" b="1" i="0">
                <a:solidFill>
                  <a:srgbClr val="FBBF24"/>
                </a:solidFill>
                <a:latin typeface="微软雅黑"/>
                <a:ea typeface="微软雅黑"/>
              </a:rPr>
              <a:t>③ 异常阻塞与重试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449056" y="2569463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B293A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49056" y="256946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1" i="0">
                <a:solidFill>
                  <a:srgbClr val="FBBF24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33104" y="2542032"/>
            <a:ext cx="2743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E6EDF5"/>
                </a:solidFill>
                <a:latin typeface="微软雅黑"/>
                <a:ea typeface="微软雅黑"/>
              </a:rPr>
              <a:t>解析异常 / 接口超时触发阻塞保护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572500" y="2852927"/>
            <a:ext cx="27432" cy="219456"/>
          </a:xfrm>
          <a:prstGeom prst="rect">
            <a:avLst/>
          </a:prstGeom>
          <a:solidFill>
            <a:srgbClr val="24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8449056" y="3118103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B293A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49056" y="311810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1" i="0">
                <a:solidFill>
                  <a:srgbClr val="FBBF24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833104" y="3090672"/>
            <a:ext cx="2743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E6EDF5"/>
                </a:solidFill>
                <a:latin typeface="微软雅黑"/>
                <a:ea typeface="微软雅黑"/>
              </a:rPr>
              <a:t>任务进入 blocked 并记录原因、推送告警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572500" y="3401568"/>
            <a:ext cx="27432" cy="219456"/>
          </a:xfrm>
          <a:prstGeom prst="rect">
            <a:avLst/>
          </a:prstGeom>
          <a:solidFill>
            <a:srgbClr val="24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8449056" y="366674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B293A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449056" y="366674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1" i="0">
                <a:solidFill>
                  <a:srgbClr val="FBBF24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833104" y="3639311"/>
            <a:ext cx="2743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E6EDF5"/>
                </a:solidFill>
                <a:latin typeface="微软雅黑"/>
                <a:ea typeface="微软雅黑"/>
              </a:rPr>
              <a:t>管理员在列表页查看阻塞原因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72500" y="3950207"/>
            <a:ext cx="27432" cy="219456"/>
          </a:xfrm>
          <a:prstGeom prst="rect">
            <a:avLst/>
          </a:prstGeom>
          <a:solidFill>
            <a:srgbClr val="24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8449056" y="421538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B293A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449056" y="421538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1" i="0">
                <a:solidFill>
                  <a:srgbClr val="FBBF24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833104" y="4187952"/>
            <a:ext cx="2743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E6EDF5"/>
                </a:solidFill>
                <a:latin typeface="微软雅黑"/>
                <a:ea typeface="微软雅黑"/>
              </a:rPr>
              <a:t>修正文件或调整参数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572500" y="4498848"/>
            <a:ext cx="27432" cy="219456"/>
          </a:xfrm>
          <a:prstGeom prst="rect">
            <a:avLst/>
          </a:prstGeom>
          <a:solidFill>
            <a:srgbClr val="24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449056" y="476402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B293A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449056" y="476402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1" i="0">
                <a:solidFill>
                  <a:srgbClr val="FBBF24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833104" y="4736592"/>
            <a:ext cx="2743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E6EDF5"/>
                </a:solidFill>
                <a:latin typeface="微软雅黑"/>
                <a:ea typeface="微软雅黑"/>
              </a:rPr>
              <a:t>触发「重新审查」，重回流转流水线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572500" y="5047488"/>
            <a:ext cx="27432" cy="219456"/>
          </a:xfrm>
          <a:prstGeom prst="rect">
            <a:avLst/>
          </a:prstGeom>
          <a:solidFill>
            <a:srgbClr val="24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8449056" y="5312664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1B293A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449056" y="531266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1" i="0">
                <a:solidFill>
                  <a:srgbClr val="FBBF24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833104" y="5285231"/>
            <a:ext cx="2743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E6EDF5"/>
                </a:solidFill>
                <a:latin typeface="微软雅黑"/>
                <a:ea typeface="微软雅黑"/>
              </a:rPr>
              <a:t>重试上限 3 次，超出转管理员介入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40080" y="649224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合同审批智能审查系统 · 项目路演   |   V1.0 · 2026.09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607040" y="6492240"/>
            <a:ext cx="9418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09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4FC3F7"/>
                </a:solidFill>
                <a:latin typeface="微软雅黑"/>
                <a:ea typeface="微软雅黑"/>
              </a:rPr>
              <a:t>08</a:t>
            </a:r>
            <a:r>
              <a:rPr sz="1300" b="1" i="0">
                <a:solidFill>
                  <a:srgbClr val="8FA3B8"/>
                </a:solidFill>
                <a:latin typeface="微软雅黑"/>
                <a:ea typeface="微软雅黑"/>
              </a:rPr>
              <a:t>   系统架构与技术选型</a:t>
            </a:r>
            <a:r>
              <a:rPr sz="1000" b="0" i="0">
                <a:solidFill>
                  <a:srgbClr val="5A6B83"/>
                </a:solidFill>
                <a:latin typeface="微软雅黑"/>
                <a:ea typeface="微软雅黑"/>
              </a:rPr>
              <a:t>   /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822960" cy="50292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42415"/>
            <a:ext cx="10972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E6EDF5"/>
                </a:solidFill>
                <a:latin typeface="微软雅黑"/>
                <a:ea typeface="微软雅黑"/>
              </a:rPr>
              <a:t>系统总体架构 · 五层分层设计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10512"/>
            <a:ext cx="10881360" cy="786384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1143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01952"/>
            <a:ext cx="73152" cy="603504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103784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50" b="1" i="0">
                <a:solidFill>
                  <a:srgbClr val="4FC3F7"/>
                </a:solidFill>
                <a:latin typeface="微软雅黑"/>
                <a:ea typeface="微软雅黑"/>
              </a:rPr>
              <a:t>交互层 · 前端</a:t>
            </a:r>
          </a:p>
          <a:p>
            <a:pPr algn="l">
              <a:lnSpc>
                <a:spcPct val="118000"/>
              </a:lnSpc>
              <a:spcBef>
                <a:spcPts val="100"/>
              </a:spcBef>
              <a:spcAft>
                <a:spcPts val="400"/>
              </a:spcAft>
            </a:pPr>
            <a:r>
              <a:rPr sz="1050" b="0" i="0">
                <a:solidFill>
                  <a:srgbClr val="8FA3B8"/>
                </a:solidFill>
                <a:latin typeface="微软雅黑"/>
                <a:ea typeface="微软雅黑"/>
              </a:rPr>
              <a:t>合同审查大盘页  |  智能审查工作台（双栏视窗 · 风险卡片 · 协同回写）  |  合规规则与模板页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06624"/>
            <a:ext cx="10881360" cy="786384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1143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798064"/>
            <a:ext cx="73152" cy="603504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06624"/>
            <a:ext cx="103784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50" b="1" i="0">
                <a:solidFill>
                  <a:srgbClr val="6EE7B7"/>
                </a:solidFill>
                <a:latin typeface="微软雅黑"/>
                <a:ea typeface="微软雅黑"/>
              </a:rPr>
              <a:t>应用服务层 · 后端</a:t>
            </a:r>
          </a:p>
          <a:p>
            <a:pPr algn="l">
              <a:lnSpc>
                <a:spcPct val="118000"/>
              </a:lnSpc>
              <a:spcBef>
                <a:spcPts val="100"/>
              </a:spcBef>
              <a:spcAft>
                <a:spcPts val="400"/>
              </a:spcAft>
            </a:pPr>
            <a:r>
              <a:rPr sz="1050" b="0" i="0">
                <a:solidFill>
                  <a:srgbClr val="8FA3B8"/>
                </a:solidFill>
                <a:latin typeface="微软雅黑"/>
                <a:ea typeface="微软雅黑"/>
              </a:rPr>
              <a:t>接入与流转  |  文档解析引擎  |  智能审查引擎  |  条款推荐引擎  |  审批回写模块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602736"/>
            <a:ext cx="10881360" cy="786384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1143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694176"/>
            <a:ext cx="73152" cy="603504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602736"/>
            <a:ext cx="103784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50" b="1" i="0">
                <a:solidFill>
                  <a:srgbClr val="4FC3F7"/>
                </a:solidFill>
                <a:latin typeface="微软雅黑"/>
                <a:ea typeface="微软雅黑"/>
              </a:rPr>
              <a:t>智能能力层</a:t>
            </a:r>
          </a:p>
          <a:p>
            <a:pPr algn="l">
              <a:lnSpc>
                <a:spcPct val="118000"/>
              </a:lnSpc>
              <a:spcBef>
                <a:spcPts val="100"/>
              </a:spcBef>
              <a:spcAft>
                <a:spcPts val="400"/>
              </a:spcAft>
            </a:pPr>
            <a:r>
              <a:rPr sz="1050" b="0" i="0">
                <a:solidFill>
                  <a:srgbClr val="8FA3B8"/>
                </a:solidFill>
                <a:latin typeface="微软雅黑"/>
                <a:ea typeface="微软雅黑"/>
              </a:rPr>
              <a:t>大语言模型（语义研判 · 建议生成）＋ 合规规则引擎（确定性判定）＋ OCR 识别 ＋ 标准条款知识库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498848"/>
            <a:ext cx="10881360" cy="786384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1143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590288"/>
            <a:ext cx="73152" cy="603504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98848"/>
            <a:ext cx="103784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50" b="1" i="0">
                <a:solidFill>
                  <a:srgbClr val="6EE7B7"/>
                </a:solidFill>
                <a:latin typeface="微软雅黑"/>
                <a:ea typeface="微软雅黑"/>
              </a:rPr>
              <a:t>数据层</a:t>
            </a:r>
          </a:p>
          <a:p>
            <a:pPr algn="l">
              <a:lnSpc>
                <a:spcPct val="118000"/>
              </a:lnSpc>
              <a:spcBef>
                <a:spcPts val="100"/>
              </a:spcBef>
              <a:spcAft>
                <a:spcPts val="400"/>
              </a:spcAft>
            </a:pPr>
            <a:r>
              <a:rPr sz="1050" b="0" i="0">
                <a:solidFill>
                  <a:srgbClr val="8FA3B8"/>
                </a:solidFill>
                <a:latin typeface="微软雅黑"/>
                <a:ea typeface="微软雅黑"/>
              </a:rPr>
              <a:t>合同文档存储 · 条款结构化数据 · 任务状态机数据 · 规则与模板库 · 审查与回写日志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394960"/>
            <a:ext cx="10881360" cy="786384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1143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486400"/>
            <a:ext cx="73152" cy="60350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394960"/>
            <a:ext cx="1037844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50" b="1" i="0">
                <a:solidFill>
                  <a:srgbClr val="FBBF24"/>
                </a:solidFill>
                <a:latin typeface="微软雅黑"/>
                <a:ea typeface="微软雅黑"/>
              </a:rPr>
              <a:t>集成层 · 外部对接</a:t>
            </a:r>
          </a:p>
          <a:p>
            <a:pPr algn="l">
              <a:lnSpc>
                <a:spcPct val="118000"/>
              </a:lnSpc>
              <a:spcBef>
                <a:spcPts val="100"/>
              </a:spcBef>
              <a:spcAft>
                <a:spcPts val="400"/>
              </a:spcAft>
            </a:pPr>
            <a:r>
              <a:rPr sz="1050" b="0" i="0">
                <a:solidFill>
                  <a:srgbClr val="8FA3B8"/>
                </a:solidFill>
                <a:latin typeface="微软雅黑"/>
                <a:ea typeface="微软雅黑"/>
              </a:rPr>
              <a:t>企业审批系统：事件监听 / 待办拉取 / 附件下载 / 评论写回（演示期由 Mock 审批系统提供）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9224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合同审批智能审查系统 · 项目路演   |   V1.0 · 2026.09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92240"/>
            <a:ext cx="9418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4FC3F7"/>
                </a:solidFill>
                <a:latin typeface="微软雅黑"/>
                <a:ea typeface="微软雅黑"/>
              </a:rPr>
              <a:t>09</a:t>
            </a:r>
            <a:r>
              <a:rPr sz="1300" b="1" i="0">
                <a:solidFill>
                  <a:srgbClr val="8FA3B8"/>
                </a:solidFill>
                <a:latin typeface="微软雅黑"/>
                <a:ea typeface="微软雅黑"/>
              </a:rPr>
              <a:t>   系统架构与技术选型</a:t>
            </a:r>
            <a:r>
              <a:rPr sz="1000" b="0" i="0">
                <a:solidFill>
                  <a:srgbClr val="5A6B83"/>
                </a:solidFill>
                <a:latin typeface="微软雅黑"/>
                <a:ea typeface="微软雅黑"/>
              </a:rPr>
              <a:t>   / 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822960" cy="50292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42415"/>
            <a:ext cx="10972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E6EDF5"/>
                </a:solidFill>
                <a:latin typeface="微软雅黑"/>
                <a:ea typeface="微软雅黑"/>
              </a:rPr>
              <a:t>技术选型与路线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2615184" cy="1920240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29968"/>
            <a:ext cx="64008" cy="1700784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084832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1" i="0">
                <a:solidFill>
                  <a:srgbClr val="4FC3F7"/>
                </a:solidFill>
                <a:latin typeface="微软雅黑"/>
                <a:ea typeface="微软雅黑"/>
              </a:rPr>
              <a:t>后端服务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487168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1" i="0">
                <a:solidFill>
                  <a:srgbClr val="E6EDF5"/>
                </a:solidFill>
                <a:latin typeface="微软雅黑"/>
                <a:ea typeface="微软雅黑"/>
              </a:rPr>
              <a:t>Python 3.11 + 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218688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950" b="0" i="0">
                <a:solidFill>
                  <a:srgbClr val="8FA3B8"/>
                </a:solidFill>
                <a:latin typeface="微软雅黑"/>
                <a:ea typeface="微软雅黑"/>
              </a:rPr>
              <a:t>与 BOSS问数 / data-agent 同栈，异步高性能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1920240"/>
            <a:ext cx="2615184" cy="1920240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01568" y="2029968"/>
            <a:ext cx="64008" cy="1700784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9311" y="2084832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1" i="0">
                <a:solidFill>
                  <a:srgbClr val="6EE7B7"/>
                </a:solidFill>
                <a:latin typeface="微软雅黑"/>
                <a:ea typeface="微软雅黑"/>
              </a:rPr>
              <a:t>LLM 编排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1" y="2487168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1" i="0">
                <a:solidFill>
                  <a:srgbClr val="E6EDF5"/>
                </a:solidFill>
                <a:latin typeface="微软雅黑"/>
                <a:ea typeface="微软雅黑"/>
              </a:rPr>
              <a:t>LangGraph + LangChain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1" y="3218688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950" b="0" i="0">
                <a:solidFill>
                  <a:srgbClr val="8FA3B8"/>
                </a:solidFill>
                <a:latin typeface="微软雅黑"/>
                <a:ea typeface="微软雅黑"/>
              </a:rPr>
              <a:t>审查流水线按状态图编排，节点落库可断点重试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920240"/>
            <a:ext cx="2615184" cy="1920240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63056" y="2029968"/>
            <a:ext cx="64008" cy="1700784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84832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1" i="0">
                <a:solidFill>
                  <a:srgbClr val="4FC3F7"/>
                </a:solidFill>
                <a:latin typeface="微软雅黑"/>
                <a:ea typeface="微软雅黑"/>
              </a:rPr>
              <a:t>文档解析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87168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1" i="0">
                <a:solidFill>
                  <a:srgbClr val="E6EDF5"/>
                </a:solidFill>
                <a:latin typeface="微软雅黑"/>
                <a:ea typeface="微软雅黑"/>
              </a:rPr>
              <a:t>python-docx + PyMuPDF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218688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950" b="0" i="0">
                <a:solidFill>
                  <a:srgbClr val="8FA3B8"/>
                </a:solidFill>
                <a:latin typeface="微软雅黑"/>
                <a:ea typeface="微软雅黑"/>
              </a:rPr>
              <a:t>段落树、标题层级、页码与字符坐标全量保留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24544" y="1920240"/>
            <a:ext cx="2615184" cy="1920240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24544" y="2029968"/>
            <a:ext cx="64008" cy="1700784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62288" y="2084832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1" i="0">
                <a:solidFill>
                  <a:srgbClr val="6EE7B7"/>
                </a:solidFill>
                <a:latin typeface="微软雅黑"/>
                <a:ea typeface="微软雅黑"/>
              </a:rPr>
              <a:t>OCR 识别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2288" y="2487168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1" i="0">
                <a:solidFill>
                  <a:srgbClr val="E6EDF5"/>
                </a:solidFill>
                <a:latin typeface="微软雅黑"/>
                <a:ea typeface="微软雅黑"/>
              </a:rPr>
              <a:t>RapidOCR（纯 CPU）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2288" y="3218688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950" b="0" i="0">
                <a:solidFill>
                  <a:srgbClr val="8FA3B8"/>
                </a:solidFill>
                <a:latin typeface="微软雅黑"/>
                <a:ea typeface="微软雅黑"/>
              </a:rPr>
              <a:t>免 GPU、Windows 友好，模型体积小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069080"/>
            <a:ext cx="2615184" cy="1920240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178808"/>
            <a:ext cx="64008" cy="1700784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4233672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1" i="0">
                <a:solidFill>
                  <a:srgbClr val="4FC3F7"/>
                </a:solidFill>
                <a:latin typeface="微软雅黑"/>
                <a:ea typeface="微软雅黑"/>
              </a:rPr>
              <a:t>规则引擎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" y="4636008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1" i="0">
                <a:solidFill>
                  <a:srgbClr val="E6EDF5"/>
                </a:solidFill>
                <a:latin typeface="微软雅黑"/>
                <a:ea typeface="微软雅黑"/>
              </a:rPr>
              <a:t>自研表达式 + JSON 规则库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" y="5367528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950" b="0" i="0">
                <a:solidFill>
                  <a:srgbClr val="8FA3B8"/>
                </a:solidFill>
                <a:latin typeface="微软雅黑"/>
                <a:ea typeface="微软雅黑"/>
              </a:rPr>
              <a:t>关键词 / 正则 / 数值比较 / 缺失判断，可热更新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01568" y="4069080"/>
            <a:ext cx="2615184" cy="1920240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01568" y="4178808"/>
            <a:ext cx="64008" cy="1700784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39311" y="4233672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1" i="0">
                <a:solidFill>
                  <a:srgbClr val="6EE7B7"/>
                </a:solidFill>
                <a:latin typeface="微软雅黑"/>
                <a:ea typeface="微软雅黑"/>
              </a:rPr>
              <a:t>数据存储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39311" y="4636008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1" i="0">
                <a:solidFill>
                  <a:srgbClr val="E6EDF5"/>
                </a:solidFill>
                <a:latin typeface="微软雅黑"/>
                <a:ea typeface="微软雅黑"/>
              </a:rPr>
              <a:t>SQLite → PostgreSQL 可迁移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39311" y="5367528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950" b="0" i="0">
                <a:solidFill>
                  <a:srgbClr val="8FA3B8"/>
                </a:solidFill>
                <a:latin typeface="微软雅黑"/>
                <a:ea typeface="微软雅黑"/>
              </a:rPr>
              <a:t>演示期零运维单文件，生产平滑升级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63056" y="4069080"/>
            <a:ext cx="2615184" cy="1920240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63056" y="4178808"/>
            <a:ext cx="64008" cy="1700784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233672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1" i="0">
                <a:solidFill>
                  <a:srgbClr val="4FC3F7"/>
                </a:solidFill>
                <a:latin typeface="微软雅黑"/>
                <a:ea typeface="微软雅黑"/>
              </a:rPr>
              <a:t>前端技术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636008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1" i="0">
                <a:solidFill>
                  <a:srgbClr val="E6EDF5"/>
                </a:solidFill>
                <a:latin typeface="微软雅黑"/>
                <a:ea typeface="微软雅黑"/>
              </a:rPr>
              <a:t>Vue 3 + Vite + Element Plus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367528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950" b="0" i="0">
                <a:solidFill>
                  <a:srgbClr val="8FA3B8"/>
                </a:solidFill>
                <a:latin typeface="微软雅黑"/>
                <a:ea typeface="微软雅黑"/>
              </a:rPr>
              <a:t>后台管理主流组合；pdf.js 文本层高亮渲染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24544" y="4069080"/>
            <a:ext cx="2615184" cy="1920240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924544" y="4178808"/>
            <a:ext cx="64008" cy="1700784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62288" y="4233672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1" i="0">
                <a:solidFill>
                  <a:srgbClr val="6EE7B7"/>
                </a:solidFill>
                <a:latin typeface="微软雅黑"/>
                <a:ea typeface="微软雅黑"/>
              </a:rPr>
              <a:t>工程与部署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62288" y="4636008"/>
            <a:ext cx="2240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1" i="0">
                <a:solidFill>
                  <a:srgbClr val="E6EDF5"/>
                </a:solidFill>
                <a:latin typeface="微软雅黑"/>
                <a:ea typeface="微软雅黑"/>
              </a:rPr>
              <a:t>uv 依赖锁定 + 私有化部署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62288" y="5367528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950" b="0" i="0">
                <a:solidFill>
                  <a:srgbClr val="8FA3B8"/>
                </a:solidFill>
                <a:latin typeface="微软雅黑"/>
                <a:ea typeface="微软雅黑"/>
              </a:rPr>
              <a:t>依赖可复现；合同数据不出企业边界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49224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合同审批智能审查系统 · 项目路演   |   V1.0 · 2026.09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7040" y="6492240"/>
            <a:ext cx="9418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11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4FC3F7"/>
                </a:solidFill>
                <a:latin typeface="微软雅黑"/>
                <a:ea typeface="微软雅黑"/>
              </a:rPr>
              <a:t>10</a:t>
            </a:r>
            <a:r>
              <a:rPr sz="1300" b="1" i="0">
                <a:solidFill>
                  <a:srgbClr val="8FA3B8"/>
                </a:solidFill>
                <a:latin typeface="微软雅黑"/>
                <a:ea typeface="微软雅黑"/>
              </a:rPr>
              <a:t>   关键设计详解</a:t>
            </a:r>
            <a:r>
              <a:rPr sz="1000" b="0" i="0">
                <a:solidFill>
                  <a:srgbClr val="5A6B83"/>
                </a:solidFill>
                <a:latin typeface="微软雅黑"/>
                <a:ea typeface="微软雅黑"/>
              </a:rPr>
              <a:t>   / PARSING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822960" cy="50292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42415"/>
            <a:ext cx="10972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E6EDF5"/>
                </a:solidFill>
                <a:latin typeface="微软雅黑"/>
                <a:ea typeface="微软雅黑"/>
              </a:rPr>
              <a:t>文档解析引擎：三通道解析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566160" cy="3337560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38528"/>
            <a:ext cx="64008" cy="3118104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29968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50" b="1" i="0">
                <a:solidFill>
                  <a:srgbClr val="4FC3F7"/>
                </a:solidFill>
                <a:latin typeface="微软雅黑"/>
                <a:ea typeface="微软雅黑"/>
              </a:rPr>
              <a:t>DOCX · python-docx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3090672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1" i="0">
                <a:solidFill>
                  <a:srgbClr val="4FC3F7"/>
                </a:solidFill>
                <a:latin typeface="微软雅黑"/>
                <a:ea typeface="微软雅黑"/>
              </a:rPr>
              <a:t>▍ </a:t>
            </a:r>
            <a:r>
              <a:rPr sz="1050" b="0" i="0">
                <a:solidFill>
                  <a:srgbClr val="E6EDF5"/>
                </a:solidFill>
                <a:latin typeface="微软雅黑"/>
                <a:ea typeface="微软雅黑"/>
              </a:rPr>
              <a:t>遍历段落与表格，按文档流输出段落树</a:t>
            </a:r>
          </a:p>
          <a:p>
            <a:pPr>
              <a:lnSpc>
                <a:spcPct val="116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1" i="0">
                <a:solidFill>
                  <a:srgbClr val="4FC3F7"/>
                </a:solidFill>
                <a:latin typeface="微软雅黑"/>
                <a:ea typeface="微软雅黑"/>
              </a:rPr>
              <a:t>▍ </a:t>
            </a:r>
            <a:r>
              <a:rPr sz="1050" b="0" i="0">
                <a:solidFill>
                  <a:srgbClr val="E6EDF5"/>
                </a:solidFill>
                <a:latin typeface="微软雅黑"/>
                <a:ea typeface="微软雅黑"/>
              </a:rPr>
              <a:t>依据 Heading 样式保留标题层级</a:t>
            </a:r>
          </a:p>
          <a:p>
            <a:pPr>
              <a:lnSpc>
                <a:spcPct val="116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1" i="0">
                <a:solidFill>
                  <a:srgbClr val="4FC3F7"/>
                </a:solidFill>
                <a:latin typeface="微软雅黑"/>
                <a:ea typeface="微软雅黑"/>
              </a:rPr>
              <a:t>▍ </a:t>
            </a:r>
            <a:r>
              <a:rPr sz="1050" b="0" i="0">
                <a:solidFill>
                  <a:srgbClr val="E6EDF5"/>
                </a:solidFill>
                <a:latin typeface="微软雅黑"/>
                <a:ea typeface="微软雅黑"/>
              </a:rPr>
              <a:t>表格转 Markdown 并入段落树（标记「表格」）</a:t>
            </a:r>
          </a:p>
          <a:p>
            <a:pPr>
              <a:lnSpc>
                <a:spcPct val="116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1" i="0">
                <a:solidFill>
                  <a:srgbClr val="4FC3F7"/>
                </a:solidFill>
                <a:latin typeface="微软雅黑"/>
                <a:ea typeface="微软雅黑"/>
              </a:rPr>
              <a:t>▍ </a:t>
            </a:r>
            <a:r>
              <a:rPr sz="1050" b="0" i="0">
                <a:solidFill>
                  <a:srgbClr val="E6EDF5"/>
                </a:solidFill>
                <a:latin typeface="微软雅黑"/>
                <a:ea typeface="微软雅黑"/>
              </a:rPr>
              <a:t>mammoth 生成 HTML 存档，兜底渲染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828800"/>
            <a:ext cx="3566160" cy="3337560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938528"/>
            <a:ext cx="64008" cy="3118104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2029968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50" b="1" i="0">
                <a:solidFill>
                  <a:srgbClr val="6EE7B7"/>
                </a:solidFill>
                <a:latin typeface="微软雅黑"/>
                <a:ea typeface="微软雅黑"/>
              </a:rPr>
              <a:t>PDF · PyMuPDF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2578608"/>
            <a:ext cx="3090672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1" i="0">
                <a:solidFill>
                  <a:srgbClr val="6EE7B7"/>
                </a:solidFill>
                <a:latin typeface="微软雅黑"/>
                <a:ea typeface="微软雅黑"/>
              </a:rPr>
              <a:t>▍ </a:t>
            </a:r>
            <a:r>
              <a:rPr sz="1050" b="0" i="0">
                <a:solidFill>
                  <a:srgbClr val="E6EDF5"/>
                </a:solidFill>
                <a:latin typeface="微软雅黑"/>
                <a:ea typeface="微软雅黑"/>
              </a:rPr>
              <a:t>逐页 block 抽取，按顺序合并为段落</a:t>
            </a:r>
          </a:p>
          <a:p>
            <a:pPr>
              <a:lnSpc>
                <a:spcPct val="116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1" i="0">
                <a:solidFill>
                  <a:srgbClr val="6EE7B7"/>
                </a:solidFill>
                <a:latin typeface="微软雅黑"/>
                <a:ea typeface="微软雅黑"/>
              </a:rPr>
              <a:t>▍ </a:t>
            </a:r>
            <a:r>
              <a:rPr sz="1050" b="0" i="0">
                <a:solidFill>
                  <a:srgbClr val="E6EDF5"/>
                </a:solidFill>
                <a:latin typeface="微软雅黑"/>
                <a:ea typeface="微软雅黑"/>
              </a:rPr>
              <a:t>跨页段落智能合并（无句末标点续行）</a:t>
            </a:r>
          </a:p>
          <a:p>
            <a:pPr>
              <a:lnSpc>
                <a:spcPct val="116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1" i="0">
                <a:solidFill>
                  <a:srgbClr val="6EE7B7"/>
                </a:solidFill>
                <a:latin typeface="微软雅黑"/>
                <a:ea typeface="微软雅黑"/>
              </a:rPr>
              <a:t>▍ </a:t>
            </a:r>
            <a:r>
              <a:rPr sz="1050" b="0" i="0">
                <a:solidFill>
                  <a:srgbClr val="E6EDF5"/>
                </a:solidFill>
                <a:latin typeface="微软雅黑"/>
                <a:ea typeface="微软雅黑"/>
              </a:rPr>
              <a:t>记录页码，支撑分页查看与定位</a:t>
            </a:r>
          </a:p>
          <a:p>
            <a:pPr>
              <a:lnSpc>
                <a:spcPct val="116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1" i="0">
                <a:solidFill>
                  <a:srgbClr val="6EE7B7"/>
                </a:solidFill>
                <a:latin typeface="微软雅黑"/>
                <a:ea typeface="微软雅黑"/>
              </a:rPr>
              <a:t>▍ </a:t>
            </a:r>
            <a:r>
              <a:rPr sz="1050" b="0" i="0">
                <a:solidFill>
                  <a:srgbClr val="E6EDF5"/>
                </a:solidFill>
                <a:latin typeface="微软雅黑"/>
                <a:ea typeface="微软雅黑"/>
              </a:rPr>
              <a:t>加密文档检出异常 → 转 blocked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4736" y="1828800"/>
            <a:ext cx="3566160" cy="3337560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74736" y="1938528"/>
            <a:ext cx="64008" cy="311810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9056" y="2029968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50" b="1" i="0">
                <a:solidFill>
                  <a:srgbClr val="FBBF24"/>
                </a:solidFill>
                <a:latin typeface="微软雅黑"/>
                <a:ea typeface="微软雅黑"/>
              </a:rPr>
              <a:t>扫描件 · RapidOCR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2578608"/>
            <a:ext cx="3090672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1" i="0">
                <a:solidFill>
                  <a:srgbClr val="FBBF24"/>
                </a:solidFill>
                <a:latin typeface="微软雅黑"/>
                <a:ea typeface="微软雅黑"/>
              </a:rPr>
              <a:t>▍ </a:t>
            </a:r>
            <a:r>
              <a:rPr sz="1050" b="0" i="0">
                <a:solidFill>
                  <a:srgbClr val="E6EDF5"/>
                </a:solidFill>
                <a:latin typeface="微软雅黑"/>
                <a:ea typeface="微软雅黑"/>
              </a:rPr>
              <a:t>图像预处理：去噪 / 纠偏 / 增强</a:t>
            </a:r>
          </a:p>
          <a:p>
            <a:pPr>
              <a:lnSpc>
                <a:spcPct val="116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1" i="0">
                <a:solidFill>
                  <a:srgbClr val="FBBF24"/>
                </a:solidFill>
                <a:latin typeface="微软雅黑"/>
                <a:ea typeface="微软雅黑"/>
              </a:rPr>
              <a:t>▍ </a:t>
            </a:r>
            <a:r>
              <a:rPr sz="1050" b="0" i="0">
                <a:solidFill>
                  <a:srgbClr val="E6EDF5"/>
                </a:solidFill>
                <a:latin typeface="微软雅黑"/>
                <a:ea typeface="微软雅黑"/>
              </a:rPr>
              <a:t>行识别返回（文本行, 置信度）列表</a:t>
            </a:r>
          </a:p>
          <a:p>
            <a:pPr>
              <a:lnSpc>
                <a:spcPct val="116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1" i="0">
                <a:solidFill>
                  <a:srgbClr val="FBBF24"/>
                </a:solidFill>
                <a:latin typeface="微软雅黑"/>
                <a:ea typeface="微软雅黑"/>
              </a:rPr>
              <a:t>▍ </a:t>
            </a:r>
            <a:r>
              <a:rPr sz="1050" b="0" i="0">
                <a:solidFill>
                  <a:srgbClr val="E6EDF5"/>
                </a:solidFill>
                <a:latin typeface="微软雅黑"/>
                <a:ea typeface="微软雅黑"/>
              </a:rPr>
              <a:t>按行高与间距聚类成段落</a:t>
            </a:r>
          </a:p>
          <a:p>
            <a:pPr>
              <a:lnSpc>
                <a:spcPct val="116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1" i="0">
                <a:solidFill>
                  <a:srgbClr val="FBBF24"/>
                </a:solidFill>
                <a:latin typeface="微软雅黑"/>
                <a:ea typeface="微软雅黑"/>
              </a:rPr>
              <a:t>▍ </a:t>
            </a:r>
            <a:r>
              <a:rPr sz="1050" b="0" i="0">
                <a:solidFill>
                  <a:srgbClr val="E6EDF5"/>
                </a:solidFill>
                <a:latin typeface="微软雅黑"/>
                <a:ea typeface="微软雅黑"/>
              </a:rPr>
              <a:t>置信度低于阈值 → blocked 不硬审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44068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0" i="0">
                <a:solidFill>
                  <a:srgbClr val="8FA3B8"/>
                </a:solidFill>
                <a:latin typeface="微软雅黑"/>
                <a:ea typeface="微软雅黑"/>
              </a:rPr>
              <a:t>统一输出：段落树（含层级与页码）+ 元数据（主体 / 信用代码 / 金额 / 币种 / 期限 / 生效条件），所有解析项携带全局字符偏移，供前端标注与高亮。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9224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合同审批智能审查系统 · 项目路演   |   V1.0 · 2026.09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92240"/>
            <a:ext cx="9418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12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4FC3F7"/>
                </a:solidFill>
                <a:latin typeface="微软雅黑"/>
                <a:ea typeface="微软雅黑"/>
              </a:rPr>
              <a:t>11</a:t>
            </a:r>
            <a:r>
              <a:rPr sz="1300" b="1" i="0">
                <a:solidFill>
                  <a:srgbClr val="8FA3B8"/>
                </a:solidFill>
                <a:latin typeface="微软雅黑"/>
                <a:ea typeface="微软雅黑"/>
              </a:rPr>
              <a:t>   关键设计详解</a:t>
            </a:r>
            <a:r>
              <a:rPr sz="1000" b="0" i="0">
                <a:solidFill>
                  <a:srgbClr val="5A6B83"/>
                </a:solidFill>
                <a:latin typeface="微软雅黑"/>
                <a:ea typeface="微软雅黑"/>
              </a:rPr>
              <a:t>   / TRACEABILITY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822960" cy="50292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42415"/>
            <a:ext cx="10972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E6EDF5"/>
                </a:solidFill>
                <a:latin typeface="微软雅黑"/>
                <a:ea typeface="微软雅黑"/>
              </a:rPr>
              <a:t>条款结构化切分与三元定位溯源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577840" cy="4023360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84248"/>
            <a:ext cx="64008" cy="3803904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84831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4FC3F7"/>
                </a:solidFill>
                <a:latin typeface="微软雅黑"/>
                <a:ea typeface="微软雅黑"/>
              </a:rPr>
              <a:t>条款层级切分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42032"/>
            <a:ext cx="50749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 i="0">
                <a:solidFill>
                  <a:srgbClr val="4FC3F7"/>
                </a:solidFill>
                <a:latin typeface="微软雅黑"/>
                <a:ea typeface="微软雅黑"/>
              </a:rPr>
              <a:t>▍ </a:t>
            </a:r>
            <a:r>
              <a:rPr sz="1150" b="0" i="0">
                <a:solidFill>
                  <a:srgbClr val="E6EDF5"/>
                </a:solidFill>
                <a:latin typeface="微软雅黑"/>
                <a:ea typeface="微软雅黑"/>
              </a:rPr>
              <a:t>切分依据：「第X条」序号、数字编号、中文序号、条款标题关键词</a:t>
            </a:r>
          </a:p>
          <a:p>
            <a:pPr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 i="0">
                <a:solidFill>
                  <a:srgbClr val="4FC3F7"/>
                </a:solidFill>
                <a:latin typeface="微软雅黑"/>
                <a:ea typeface="微软雅黑"/>
              </a:rPr>
              <a:t>▍ </a:t>
            </a:r>
            <a:r>
              <a:rPr sz="1150" b="0" i="0">
                <a:solidFill>
                  <a:srgbClr val="E6EDF5"/>
                </a:solidFill>
                <a:latin typeface="微软雅黑"/>
                <a:ea typeface="微软雅黑"/>
              </a:rPr>
              <a:t>覆盖类型：标的物 / 付款 / 验收 / 违约责任 / 保密 / 数据安全 / 争议管辖 …</a:t>
            </a:r>
          </a:p>
          <a:p>
            <a:pPr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 i="0">
                <a:solidFill>
                  <a:srgbClr val="4FC3F7"/>
                </a:solidFill>
                <a:latin typeface="微软雅黑"/>
                <a:ea typeface="微软雅黑"/>
              </a:rPr>
              <a:t>▍ </a:t>
            </a:r>
            <a:r>
              <a:rPr sz="1150" b="0" i="0">
                <a:solidFill>
                  <a:srgbClr val="E6EDF5"/>
                </a:solidFill>
                <a:latin typeface="微软雅黑"/>
                <a:ea typeface="微软雅黑"/>
              </a:rPr>
              <a:t>每个切分单元输出：clause_type + 标题层级 + 字符区间 + 页码 + 段落索引</a:t>
            </a:r>
          </a:p>
          <a:p>
            <a:pPr>
              <a:lnSpc>
                <a:spcPct val="116000"/>
              </a:lnSpc>
              <a:spcBef>
                <a:spcPts val="900"/>
              </a:spcBef>
              <a:spcAft>
                <a:spcPts val="0"/>
              </a:spcAft>
            </a:pPr>
            <a:r>
              <a:rPr sz="1150" b="1" i="0">
                <a:solidFill>
                  <a:srgbClr val="4FC3F7"/>
                </a:solidFill>
                <a:latin typeface="微软雅黑"/>
                <a:ea typeface="微软雅黑"/>
              </a:rPr>
              <a:t>▍ </a:t>
            </a:r>
            <a:r>
              <a:rPr sz="1150" b="0" i="0">
                <a:solidFill>
                  <a:srgbClr val="E6EDF5"/>
                </a:solidFill>
                <a:latin typeface="微软雅黑"/>
                <a:ea typeface="微软雅黑"/>
              </a:rPr>
              <a:t>未能归类的条款归入 other，但绝不丢弃——原文完整性优先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74519"/>
            <a:ext cx="5120640" cy="4023360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1984248"/>
            <a:ext cx="64008" cy="3803904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084831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6EE7B7"/>
                </a:solidFill>
                <a:latin typeface="微软雅黑"/>
                <a:ea typeface="微软雅黑"/>
              </a:rPr>
              <a:t>三元定位 · 高亮定位的唯一依据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2578608"/>
            <a:ext cx="4572000" cy="713232"/>
          </a:xfrm>
          <a:prstGeom prst="roundRect">
            <a:avLst>
              <a:gd name="adj" fmla="val 8000"/>
            </a:avLst>
          </a:prstGeom>
          <a:solidFill>
            <a:srgbClr val="1B293A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76288" y="2660903"/>
            <a:ext cx="4206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1" i="0">
                <a:solidFill>
                  <a:srgbClr val="6EE7B7"/>
                </a:solidFill>
                <a:latin typeface="微软雅黑"/>
                <a:ea typeface="微软雅黑"/>
              </a:rPr>
              <a:t>page_no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2962656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50" b="0" i="0">
                <a:solidFill>
                  <a:srgbClr val="8FA3B8"/>
                </a:solidFill>
                <a:latin typeface="微软雅黑"/>
                <a:ea typeface="微软雅黑"/>
              </a:rPr>
              <a:t>页码 —— 跨页文档精准跳页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3419856"/>
            <a:ext cx="4572000" cy="713232"/>
          </a:xfrm>
          <a:prstGeom prst="roundRect">
            <a:avLst>
              <a:gd name="adj" fmla="val 8000"/>
            </a:avLst>
          </a:prstGeom>
          <a:solidFill>
            <a:srgbClr val="1B293A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76288" y="3502151"/>
            <a:ext cx="4206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1" i="0">
                <a:solidFill>
                  <a:srgbClr val="6EE7B7"/>
                </a:solidFill>
                <a:latin typeface="微软雅黑"/>
                <a:ea typeface="微软雅黑"/>
              </a:rPr>
              <a:t>para_index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3803904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50" b="0" i="0">
                <a:solidFill>
                  <a:srgbClr val="8FA3B8"/>
                </a:solidFill>
                <a:latin typeface="微软雅黑"/>
                <a:ea typeface="微软雅黑"/>
              </a:rPr>
              <a:t>段落索引 —— 段落级滚动定位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4261104"/>
            <a:ext cx="4572000" cy="713232"/>
          </a:xfrm>
          <a:prstGeom prst="roundRect">
            <a:avLst>
              <a:gd name="adj" fmla="val 8000"/>
            </a:avLst>
          </a:prstGeom>
          <a:solidFill>
            <a:srgbClr val="1B293A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76288" y="4343400"/>
            <a:ext cx="4206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1" i="0">
                <a:solidFill>
                  <a:srgbClr val="6EE7B7"/>
                </a:solidFill>
                <a:latin typeface="微软雅黑"/>
                <a:ea typeface="微软雅黑"/>
              </a:rPr>
              <a:t>char_start / char_end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6288" y="4645152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50" b="0" i="0">
                <a:solidFill>
                  <a:srgbClr val="8FA3B8"/>
                </a:solidFill>
                <a:latin typeface="微软雅黑"/>
                <a:ea typeface="微软雅黑"/>
              </a:rPr>
              <a:t>字符起止偏移 —— 文本层精确区间高亮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138928"/>
            <a:ext cx="4617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8FA3B8"/>
                </a:solidFill>
                <a:latin typeface="微软雅黑"/>
                <a:ea typeface="微软雅黑"/>
              </a:rPr>
              <a:t>高亮基于位置元数据而非文本模糊匹配，同名条款不会误定位；每条风险必须携带完整坐标，不允许只给描述不给位置。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9224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合同审批智能审查系统 · 项目路演   |   V1.0 · 2026.09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92240"/>
            <a:ext cx="9418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4FC3F7"/>
                </a:solidFill>
                <a:latin typeface="微软雅黑"/>
                <a:ea typeface="微软雅黑"/>
              </a:rPr>
              <a:t>12</a:t>
            </a:r>
            <a:r>
              <a:rPr sz="1300" b="1" i="0">
                <a:solidFill>
                  <a:srgbClr val="8FA3B8"/>
                </a:solidFill>
                <a:latin typeface="微软雅黑"/>
                <a:ea typeface="微软雅黑"/>
              </a:rPr>
              <a:t>   关键设计详解</a:t>
            </a:r>
            <a:r>
              <a:rPr sz="1000" b="0" i="0">
                <a:solidFill>
                  <a:srgbClr val="5A6B83"/>
                </a:solidFill>
                <a:latin typeface="微软雅黑"/>
                <a:ea typeface="微软雅黑"/>
              </a:rPr>
              <a:t>   / DUAL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822960" cy="50292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42415"/>
            <a:ext cx="10972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E6EDF5"/>
                </a:solidFill>
                <a:latin typeface="微软雅黑"/>
                <a:ea typeface="微软雅黑"/>
              </a:rPr>
              <a:t>智能审查引擎：规则 + LLM 双引擎协同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413248" cy="2514600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38528"/>
            <a:ext cx="64008" cy="2295144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4FC3F7"/>
                </a:solidFill>
                <a:latin typeface="微软雅黑"/>
                <a:ea typeface="微软雅黑"/>
              </a:rPr>
              <a:t>引擎一 · 规则引擎（先行）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23744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 i="0">
                <a:solidFill>
                  <a:srgbClr val="4FC3F7"/>
                </a:solidFill>
                <a:latin typeface="微软雅黑"/>
                <a:ea typeface="微软雅黑"/>
              </a:rPr>
              <a:t>▍ </a:t>
            </a:r>
            <a:r>
              <a:rPr sz="1050" b="0" i="0">
                <a:solidFill>
                  <a:srgbClr val="E6EDF5"/>
                </a:solidFill>
                <a:latin typeface="微软雅黑"/>
                <a:ea typeface="微软雅黑"/>
              </a:rPr>
              <a:t>确定性合规判定：必备条款缺失、违约金比例阈值、管辖地违规、付款前置验收</a:t>
            </a:r>
          </a:p>
          <a:p>
            <a:pPr>
              <a:lnSpc>
                <a:spcPct val="116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 i="0">
                <a:solidFill>
                  <a:srgbClr val="4FC3F7"/>
                </a:solidFill>
                <a:latin typeface="微软雅黑"/>
                <a:ea typeface="微软雅黑"/>
              </a:rPr>
              <a:t>▍ </a:t>
            </a:r>
            <a:r>
              <a:rPr sz="1050" b="0" i="0">
                <a:solidFill>
                  <a:srgbClr val="E6EDF5"/>
                </a:solidFill>
                <a:latin typeface="微软雅黑"/>
                <a:ea typeface="微软雅黑"/>
              </a:rPr>
              <a:t>表达式支持：contains / regex / 数值比较 / missing_clause / and·or·not</a:t>
            </a:r>
          </a:p>
          <a:p>
            <a:pPr>
              <a:lnSpc>
                <a:spcPct val="116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 i="0">
                <a:solidFill>
                  <a:srgbClr val="4FC3F7"/>
                </a:solidFill>
                <a:latin typeface="微软雅黑"/>
                <a:ea typeface="微软雅黑"/>
              </a:rPr>
              <a:t>▍ </a:t>
            </a:r>
            <a:r>
              <a:rPr sz="1050" b="0" i="0">
                <a:solidFill>
                  <a:srgbClr val="E6EDF5"/>
                </a:solidFill>
                <a:latin typeface="微软雅黑"/>
                <a:ea typeface="微软雅黑"/>
              </a:rPr>
              <a:t>产出结构化风险项，可解释、可复核、零幻觉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7648" y="1828800"/>
            <a:ext cx="5413248" cy="2514600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27648" y="1938528"/>
            <a:ext cx="64008" cy="2295144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201168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6EE7B7"/>
                </a:solidFill>
                <a:latin typeface="微软雅黑"/>
                <a:ea typeface="微软雅黑"/>
              </a:rPr>
              <a:t>引擎二 · 大模型研判（复核）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523744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 i="0">
                <a:solidFill>
                  <a:srgbClr val="6EE7B7"/>
                </a:solidFill>
                <a:latin typeface="微软雅黑"/>
                <a:ea typeface="微软雅黑"/>
              </a:rPr>
              <a:t>▍ </a:t>
            </a:r>
            <a:r>
              <a:rPr sz="1050" b="0" i="0">
                <a:solidFill>
                  <a:srgbClr val="E6EDF5"/>
                </a:solidFill>
                <a:latin typeface="微软雅黑"/>
                <a:ea typeface="微软雅黑"/>
              </a:rPr>
              <a:t>语义级风险研判：权责不对等、高风险表述、条款歧义与缺漏</a:t>
            </a:r>
          </a:p>
          <a:p>
            <a:pPr>
              <a:lnSpc>
                <a:spcPct val="116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 i="0">
                <a:solidFill>
                  <a:srgbClr val="6EE7B7"/>
                </a:solidFill>
                <a:latin typeface="微软雅黑"/>
                <a:ea typeface="微软雅黑"/>
              </a:rPr>
              <a:t>▍ </a:t>
            </a:r>
            <a:r>
              <a:rPr sz="1050" b="0" i="0">
                <a:solidFill>
                  <a:srgbClr val="E6EDF5"/>
                </a:solidFill>
                <a:latin typeface="微软雅黑"/>
                <a:ea typeface="微软雅黑"/>
              </a:rPr>
              <a:t>强制 JSON 输出（Schema 约束），每条结论附带原文证据片段</a:t>
            </a:r>
          </a:p>
          <a:p>
            <a:pPr>
              <a:lnSpc>
                <a:spcPct val="116000"/>
              </a:lnSpc>
              <a:spcBef>
                <a:spcPts val="700"/>
              </a:spcBef>
              <a:spcAft>
                <a:spcPts val="0"/>
              </a:spcAft>
            </a:pPr>
            <a:r>
              <a:rPr sz="1050" b="1" i="0">
                <a:solidFill>
                  <a:srgbClr val="6EE7B7"/>
                </a:solidFill>
                <a:latin typeface="微软雅黑"/>
                <a:ea typeface="微软雅黑"/>
              </a:rPr>
              <a:t>▍ </a:t>
            </a:r>
            <a:r>
              <a:rPr sz="1050" b="0" i="0">
                <a:solidFill>
                  <a:srgbClr val="E6EDF5"/>
                </a:solidFill>
                <a:latin typeface="微软雅黑"/>
                <a:ea typeface="微软雅黑"/>
              </a:rPr>
              <a:t>调用失败（超时 / 无 Key / 格式非法）静默降级，接口绝不 500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572000"/>
            <a:ext cx="10881360" cy="658368"/>
          </a:xfrm>
          <a:prstGeom prst="roundRect">
            <a:avLst>
              <a:gd name="adj" fmla="val 8000"/>
            </a:avLst>
          </a:prstGeom>
          <a:solidFill>
            <a:srgbClr val="1B293A"/>
          </a:solidFill>
          <a:ln w="1143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1033272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1" i="0">
                <a:solidFill>
                  <a:srgbClr val="E6EDF5"/>
                </a:solidFill>
                <a:latin typeface="微软雅黑"/>
                <a:ea typeface="微软雅黑"/>
              </a:rPr>
              <a:t>合并去重：相同「条款 + 风险类型」的规则结果与模型结果合并，标记建议来源（规则模板 / LLM 生成）→ 输出完整风险证据链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4864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0" i="0">
                <a:solidFill>
                  <a:srgbClr val="8FA3B8"/>
                </a:solidFill>
                <a:latin typeface="微软雅黑"/>
                <a:ea typeface="微软雅黑"/>
              </a:rPr>
              <a:t>为什么双引擎：规则保证确定性问题的零遗漏与可解释性；大模型覆盖难以枚举的语义风险。二者互补，兼顾准确率与覆盖率。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9224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合同审批智能审查系统 · 项目路演   |   V1.0 · 2026.09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92240"/>
            <a:ext cx="9418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14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4FC3F7"/>
                </a:solidFill>
                <a:latin typeface="微软雅黑"/>
                <a:ea typeface="微软雅黑"/>
              </a:rPr>
              <a:t>13</a:t>
            </a:r>
            <a:r>
              <a:rPr sz="1300" b="1" i="0">
                <a:solidFill>
                  <a:srgbClr val="8FA3B8"/>
                </a:solidFill>
                <a:latin typeface="微软雅黑"/>
                <a:ea typeface="微软雅黑"/>
              </a:rPr>
              <a:t>   关键设计详解</a:t>
            </a:r>
            <a:r>
              <a:rPr sz="1000" b="0" i="0">
                <a:solidFill>
                  <a:srgbClr val="5A6B83"/>
                </a:solidFill>
                <a:latin typeface="微软雅黑"/>
                <a:ea typeface="微软雅黑"/>
              </a:rPr>
              <a:t>   / RISK RULES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822960" cy="50292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42415"/>
            <a:ext cx="10972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E6EDF5"/>
                </a:solidFill>
                <a:latin typeface="微软雅黑"/>
                <a:ea typeface="微软雅黑"/>
              </a:rPr>
              <a:t>风险分级判定规则 · 高 / 中 / 低三级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566160" cy="3383280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38528"/>
            <a:ext cx="64008" cy="3163824"/>
          </a:xfrm>
          <a:prstGeom prst="rect">
            <a:avLst/>
          </a:prstGeom>
          <a:solidFill>
            <a:srgbClr val="F8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14400" y="2066543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8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66543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E1621"/>
                </a:solidFill>
                <a:latin typeface="微软雅黑"/>
                <a:ea typeface="微软雅黑"/>
              </a:rPr>
              <a:t>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066543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86B6B"/>
                </a:solidFill>
                <a:latin typeface="微软雅黑"/>
                <a:ea typeface="微软雅黑"/>
              </a:rPr>
              <a:t>高风险 · 直接标记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3090672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F86B6B"/>
                </a:solidFill>
                <a:latin typeface="微软雅黑"/>
                <a:ea typeface="微软雅黑"/>
              </a:rPr>
              <a:t>▍ </a:t>
            </a:r>
            <a:r>
              <a:rPr sz="1100" b="0" i="0">
                <a:solidFill>
                  <a:srgbClr val="E6EDF5"/>
                </a:solidFill>
                <a:latin typeface="微软雅黑"/>
                <a:ea typeface="微软雅黑"/>
              </a:rPr>
              <a:t>主体信息缺失或被列入经营异常</a:t>
            </a:r>
          </a:p>
          <a:p>
            <a:pPr>
              <a:lnSpc>
                <a:spcPct val="11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F86B6B"/>
                </a:solidFill>
                <a:latin typeface="微软雅黑"/>
                <a:ea typeface="微软雅黑"/>
              </a:rPr>
              <a:t>▍ </a:t>
            </a:r>
            <a:r>
              <a:rPr sz="1100" b="0" i="0">
                <a:solidFill>
                  <a:srgbClr val="E6EDF5"/>
                </a:solidFill>
                <a:latin typeface="微软雅黑"/>
                <a:ea typeface="微软雅黑"/>
              </a:rPr>
              <a:t>违约责任严重不对等（我方单方承担无限责任）</a:t>
            </a:r>
          </a:p>
          <a:p>
            <a:pPr>
              <a:lnSpc>
                <a:spcPct val="11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F86B6B"/>
                </a:solidFill>
                <a:latin typeface="微软雅黑"/>
                <a:ea typeface="微软雅黑"/>
              </a:rPr>
              <a:t>▍ </a:t>
            </a:r>
            <a:r>
              <a:rPr sz="1100" b="0" i="0">
                <a:solidFill>
                  <a:srgbClr val="E6EDF5"/>
                </a:solidFill>
                <a:latin typeface="微软雅黑"/>
                <a:ea typeface="微软雅黑"/>
              </a:rPr>
              <a:t>管辖地约定违规（与法定连接点不符）</a:t>
            </a:r>
          </a:p>
          <a:p>
            <a:pPr>
              <a:lnSpc>
                <a:spcPct val="11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F86B6B"/>
                </a:solidFill>
                <a:latin typeface="微软雅黑"/>
                <a:ea typeface="微软雅黑"/>
              </a:rPr>
              <a:t>▍ </a:t>
            </a:r>
            <a:r>
              <a:rPr sz="1100" b="0" i="0">
                <a:solidFill>
                  <a:srgbClr val="E6EDF5"/>
                </a:solidFill>
                <a:latin typeface="微软雅黑"/>
                <a:ea typeface="微软雅黑"/>
              </a:rPr>
              <a:t>未设置付款前置验收条件（如到货即付全款）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828800"/>
            <a:ext cx="3566160" cy="3383280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938528"/>
            <a:ext cx="64008" cy="316382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81728" y="2066543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2066543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E1621"/>
                </a:solidFill>
                <a:latin typeface="微软雅黑"/>
                <a:ea typeface="微软雅黑"/>
              </a:rPr>
              <a:t>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6088" y="2066543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FBBF24"/>
                </a:solidFill>
                <a:latin typeface="微软雅黑"/>
                <a:ea typeface="微软雅黑"/>
              </a:rPr>
              <a:t>中风险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2743200"/>
            <a:ext cx="3090672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FBBF24"/>
                </a:solidFill>
                <a:latin typeface="微软雅黑"/>
                <a:ea typeface="微软雅黑"/>
              </a:rPr>
              <a:t>▍ </a:t>
            </a:r>
            <a:r>
              <a:rPr sz="1100" b="0" i="0">
                <a:solidFill>
                  <a:srgbClr val="E6EDF5"/>
                </a:solidFill>
                <a:latin typeface="微软雅黑"/>
                <a:ea typeface="微软雅黑"/>
              </a:rPr>
              <a:t>缺少保密义务期限</a:t>
            </a:r>
          </a:p>
          <a:p>
            <a:pPr>
              <a:lnSpc>
                <a:spcPct val="11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FBBF24"/>
                </a:solidFill>
                <a:latin typeface="微软雅黑"/>
                <a:ea typeface="微软雅黑"/>
              </a:rPr>
              <a:t>▍ </a:t>
            </a:r>
            <a:r>
              <a:rPr sz="1100" b="0" i="0">
                <a:solidFill>
                  <a:srgbClr val="E6EDF5"/>
                </a:solidFill>
                <a:latin typeface="微软雅黑"/>
                <a:ea typeface="微软雅黑"/>
              </a:rPr>
              <a:t>未明确不可抗力通知时效</a:t>
            </a:r>
          </a:p>
          <a:p>
            <a:pPr>
              <a:lnSpc>
                <a:spcPct val="11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FBBF24"/>
                </a:solidFill>
                <a:latin typeface="微软雅黑"/>
                <a:ea typeface="微软雅黑"/>
              </a:rPr>
              <a:t>▍ </a:t>
            </a:r>
            <a:r>
              <a:rPr sz="1100" b="0" i="0">
                <a:solidFill>
                  <a:srgbClr val="E6EDF5"/>
                </a:solidFill>
                <a:latin typeface="微软雅黑"/>
                <a:ea typeface="微软雅黑"/>
              </a:rPr>
              <a:t>违约金比例超出法定合理范围</a:t>
            </a:r>
          </a:p>
          <a:p>
            <a:pPr>
              <a:lnSpc>
                <a:spcPct val="11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FBBF24"/>
                </a:solidFill>
                <a:latin typeface="微软雅黑"/>
                <a:ea typeface="微软雅黑"/>
              </a:rPr>
              <a:t>▍ </a:t>
            </a:r>
            <a:r>
              <a:rPr sz="1100" b="0" i="0">
                <a:solidFill>
                  <a:srgbClr val="E6EDF5"/>
                </a:solidFill>
                <a:latin typeface="微软雅黑"/>
                <a:ea typeface="微软雅黑"/>
              </a:rPr>
              <a:t>（数值阈值类规则可配置化调整）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74736" y="1828800"/>
            <a:ext cx="3566160" cy="3383280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74736" y="1938528"/>
            <a:ext cx="64008" cy="3163824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49056" y="2066543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49056" y="2066543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0E1621"/>
                </a:solidFill>
                <a:latin typeface="微软雅黑"/>
                <a:ea typeface="微软雅黑"/>
              </a:rPr>
              <a:t>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3415" y="2066543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1" i="0">
                <a:solidFill>
                  <a:srgbClr val="6EE7B7"/>
                </a:solidFill>
                <a:latin typeface="微软雅黑"/>
                <a:ea typeface="微软雅黑"/>
              </a:rPr>
              <a:t>低风险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9056" y="2743200"/>
            <a:ext cx="3090672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6EE7B7"/>
                </a:solidFill>
                <a:latin typeface="微软雅黑"/>
                <a:ea typeface="微软雅黑"/>
              </a:rPr>
              <a:t>▍ </a:t>
            </a:r>
            <a:r>
              <a:rPr sz="1100" b="0" i="0">
                <a:solidFill>
                  <a:srgbClr val="E6EDF5"/>
                </a:solidFill>
                <a:latin typeface="微软雅黑"/>
                <a:ea typeface="微软雅黑"/>
              </a:rPr>
              <a:t>表述不规范</a:t>
            </a:r>
          </a:p>
          <a:p>
            <a:pPr>
              <a:lnSpc>
                <a:spcPct val="11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6EE7B7"/>
                </a:solidFill>
                <a:latin typeface="微软雅黑"/>
                <a:ea typeface="微软雅黑"/>
              </a:rPr>
              <a:t>▍ </a:t>
            </a:r>
            <a:r>
              <a:rPr sz="1100" b="0" i="0">
                <a:solidFill>
                  <a:srgbClr val="E6EDF5"/>
                </a:solidFill>
                <a:latin typeface="微软雅黑"/>
                <a:ea typeface="微软雅黑"/>
              </a:rPr>
              <a:t>条款顺序混乱</a:t>
            </a:r>
          </a:p>
          <a:p>
            <a:pPr>
              <a:lnSpc>
                <a:spcPct val="11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6EE7B7"/>
                </a:solidFill>
                <a:latin typeface="微软雅黑"/>
                <a:ea typeface="微软雅黑"/>
              </a:rPr>
              <a:t>▍ </a:t>
            </a:r>
            <a:r>
              <a:rPr sz="1100" b="0" i="0">
                <a:solidFill>
                  <a:srgbClr val="E6EDF5"/>
                </a:solidFill>
                <a:latin typeface="微软雅黑"/>
                <a:ea typeface="微软雅黑"/>
              </a:rPr>
              <a:t>缺少签署日期等提示类问题</a:t>
            </a:r>
          </a:p>
          <a:p>
            <a:pPr>
              <a:lnSpc>
                <a:spcPct val="11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6EE7B7"/>
                </a:solidFill>
                <a:latin typeface="微软雅黑"/>
                <a:ea typeface="微软雅黑"/>
              </a:rPr>
              <a:t>▍ </a:t>
            </a:r>
            <a:r>
              <a:rPr sz="1100" b="0" i="0">
                <a:solidFill>
                  <a:srgbClr val="E6EDF5"/>
                </a:solidFill>
                <a:latin typeface="微软雅黑"/>
                <a:ea typeface="微软雅黑"/>
              </a:rPr>
              <a:t>提供优化性修改建议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4864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0" i="0">
                <a:solidFill>
                  <a:srgbClr val="8FA3B8"/>
                </a:solidFill>
                <a:latin typeface="微软雅黑"/>
                <a:ea typeface="微软雅黑"/>
              </a:rPr>
              <a:t>风险颜色遵循业务习惯：高风险红 · 中风险橙 · 低风险绿；完整等级与判定细则可在「合规规则与模板页」维护，改库即生效。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9224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合同审批智能审查系统 · 项目路演   |   V1.0 · 2026.09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92240"/>
            <a:ext cx="9418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15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4FC3F7"/>
                </a:solidFill>
                <a:latin typeface="微软雅黑"/>
                <a:ea typeface="微软雅黑"/>
              </a:rPr>
              <a:t>14</a:t>
            </a:r>
            <a:r>
              <a:rPr sz="1300" b="1" i="0">
                <a:solidFill>
                  <a:srgbClr val="8FA3B8"/>
                </a:solidFill>
                <a:latin typeface="微软雅黑"/>
                <a:ea typeface="微软雅黑"/>
              </a:rPr>
              <a:t>   关键设计详解</a:t>
            </a:r>
            <a:r>
              <a:rPr sz="1000" b="0" i="0">
                <a:solidFill>
                  <a:srgbClr val="5A6B83"/>
                </a:solidFill>
                <a:latin typeface="微软雅黑"/>
                <a:ea typeface="微软雅黑"/>
              </a:rPr>
              <a:t>   / SUGGESTION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822960" cy="50292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42415"/>
            <a:ext cx="10972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E6EDF5"/>
                </a:solidFill>
                <a:latin typeface="微软雅黑"/>
                <a:ea typeface="微软雅黑"/>
              </a:rPr>
              <a:t>条款推荐引擎：可落地的修改建议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212080" cy="932688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38528"/>
            <a:ext cx="64008" cy="713232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20240"/>
            <a:ext cx="47548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1" i="0">
                <a:solidFill>
                  <a:srgbClr val="4FC3F7"/>
                </a:solidFill>
                <a:latin typeface="微软雅黑"/>
                <a:ea typeface="微软雅黑"/>
              </a:rPr>
              <a:t>示范条款库（模板化）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67712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80" b="0" i="0">
                <a:solidFill>
                  <a:srgbClr val="8FA3B8"/>
                </a:solidFill>
                <a:latin typeface="微软雅黑"/>
                <a:ea typeface="微软雅黑"/>
              </a:rPr>
              <a:t>按条款类型维护标准示范文本，命中规则时直接给出行业通用合规表述，稳定、可审计。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07791"/>
            <a:ext cx="5212080" cy="932688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017520"/>
            <a:ext cx="64008" cy="713232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999232"/>
            <a:ext cx="475488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1" i="0">
                <a:solidFill>
                  <a:srgbClr val="6EE7B7"/>
                </a:solidFill>
                <a:latin typeface="微软雅黑"/>
                <a:ea typeface="微软雅黑"/>
              </a:rPr>
              <a:t>大模型改写（上下文感知）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346703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80" b="0" i="0">
                <a:solidFill>
                  <a:srgbClr val="8FA3B8"/>
                </a:solidFill>
                <a:latin typeface="微软雅黑"/>
                <a:ea typeface="微软雅黑"/>
              </a:rPr>
              <a:t>结合合同类型与上下文生成贴合原条款的改写版本，措辞自然、可直接替换。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481328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1" i="0">
                <a:solidFill>
                  <a:srgbClr val="E6EDF5"/>
                </a:solidFill>
                <a:latin typeface="微软雅黑"/>
                <a:ea typeface="微软雅黑"/>
              </a:rPr>
              <a:t>建议示例（对应示例场景）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828800"/>
            <a:ext cx="5257800" cy="932688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938528"/>
            <a:ext cx="64008" cy="713232"/>
          </a:xfrm>
          <a:prstGeom prst="rect">
            <a:avLst/>
          </a:prstGeom>
          <a:solidFill>
            <a:srgbClr val="F8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901952"/>
            <a:ext cx="4846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1" i="0">
                <a:solidFill>
                  <a:srgbClr val="F86B6B"/>
                </a:solidFill>
                <a:latin typeface="微软雅黑"/>
                <a:ea typeface="微软雅黑"/>
              </a:rPr>
              <a:t>知识产权条款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19456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050" b="0" i="0">
                <a:solidFill>
                  <a:srgbClr val="E6EDF5"/>
                </a:solidFill>
                <a:latin typeface="微软雅黑"/>
                <a:ea typeface="微软雅黑"/>
              </a:rPr>
              <a:t>「交付软件源代码知识产权归采购方所有，供应商保留通用组件所有权」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907791"/>
            <a:ext cx="5257800" cy="932688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017520"/>
            <a:ext cx="64008" cy="71323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980944"/>
            <a:ext cx="4846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1" i="0">
                <a:solidFill>
                  <a:srgbClr val="FBBF24"/>
                </a:solidFill>
                <a:latin typeface="微软雅黑"/>
                <a:ea typeface="微软雅黑"/>
              </a:rPr>
              <a:t>付款方式条款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273551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050" b="0" i="0">
                <a:solidFill>
                  <a:srgbClr val="E6EDF5"/>
                </a:solidFill>
                <a:latin typeface="微软雅黑"/>
                <a:ea typeface="微软雅黑"/>
              </a:rPr>
              <a:t>「按里程碑分三期付款：签约 30% / 验收合格 60% / 质保期满 10%」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986783"/>
            <a:ext cx="5257800" cy="932688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4096511"/>
            <a:ext cx="64008" cy="713232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4059935"/>
            <a:ext cx="4846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1" i="0">
                <a:solidFill>
                  <a:srgbClr val="6EE7B7"/>
                </a:solidFill>
                <a:latin typeface="微软雅黑"/>
                <a:ea typeface="微软雅黑"/>
              </a:rPr>
              <a:t>违约责任条款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352544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1050" b="0" i="0">
                <a:solidFill>
                  <a:srgbClr val="E6EDF5"/>
                </a:solidFill>
                <a:latin typeface="微软雅黑"/>
                <a:ea typeface="微软雅黑"/>
              </a:rPr>
              <a:t>「任何一方的违约金总额不超过合同总额的 20%，权责对等」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07492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0" i="0">
                <a:solidFill>
                  <a:srgbClr val="8FA3B8"/>
                </a:solidFill>
                <a:latin typeface="微软雅黑"/>
                <a:ea typeface="微软雅黑"/>
              </a:rPr>
              <a:t>交互闭环：每条建议支持一键复制、采纳与内联编辑（法务可直接改写文本）；采纳状态与批注落库，最终审查结论以人工确认为准。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9224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合同审批智能审查系统 · 项目路演   |   V1.0 · 2026.09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07040" y="6492240"/>
            <a:ext cx="9418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4FC3F7"/>
                </a:solidFill>
                <a:latin typeface="微软雅黑"/>
                <a:ea typeface="微软雅黑"/>
              </a:rPr>
              <a:t>15</a:t>
            </a:r>
            <a:r>
              <a:rPr sz="1300" b="1" i="0">
                <a:solidFill>
                  <a:srgbClr val="8FA3B8"/>
                </a:solidFill>
                <a:latin typeface="微软雅黑"/>
                <a:ea typeface="微软雅黑"/>
              </a:rPr>
              <a:t>   关键设计详解</a:t>
            </a:r>
            <a:r>
              <a:rPr sz="1000" b="0" i="0">
                <a:solidFill>
                  <a:srgbClr val="5A6B83"/>
                </a:solidFill>
                <a:latin typeface="微软雅黑"/>
                <a:ea typeface="微软雅黑"/>
              </a:rPr>
              <a:t>   / STATE MACHINE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822960" cy="50292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42415"/>
            <a:ext cx="10972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E6EDF5"/>
                </a:solidFill>
                <a:latin typeface="微软雅黑"/>
                <a:ea typeface="微软雅黑"/>
              </a:rPr>
              <a:t>双状态机设计：任务流转与回写跟踪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27632"/>
            <a:ext cx="7315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1" i="0">
                <a:solidFill>
                  <a:srgbClr val="4FC3F7"/>
                </a:solidFill>
                <a:latin typeface="微软雅黑"/>
                <a:ea typeface="微软雅黑"/>
              </a:rPr>
              <a:t>任务状态机（五态 + 阻塞分支）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56816"/>
            <a:ext cx="2395728" cy="621792"/>
          </a:xfrm>
          <a:prstGeom prst="roundRect">
            <a:avLst>
              <a:gd name="adj" fmla="val 8000"/>
            </a:avLst>
          </a:prstGeom>
          <a:solidFill>
            <a:srgbClr val="1B293A"/>
          </a:solidFill>
          <a:ln w="1143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56816"/>
            <a:ext cx="2395728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1" i="0">
                <a:solidFill>
                  <a:srgbClr val="4FC3F7"/>
                </a:solidFill>
                <a:latin typeface="微软雅黑"/>
                <a:ea typeface="微软雅黑"/>
              </a:rPr>
              <a:t>pending</a:t>
            </a:r>
          </a:p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850" b="0" i="0">
                <a:solidFill>
                  <a:srgbClr val="8FA3B8"/>
                </a:solidFill>
                <a:latin typeface="微软雅黑"/>
                <a:ea typeface="微软雅黑"/>
              </a:rPr>
              <a:t>待处理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35808" y="1956816"/>
            <a:ext cx="384048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8FA3B8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9856" y="1956816"/>
            <a:ext cx="2395728" cy="621792"/>
          </a:xfrm>
          <a:prstGeom prst="roundRect">
            <a:avLst>
              <a:gd name="adj" fmla="val 8000"/>
            </a:avLst>
          </a:prstGeom>
          <a:solidFill>
            <a:srgbClr val="1B293A"/>
          </a:solidFill>
          <a:ln w="1143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9856" y="1956816"/>
            <a:ext cx="2395728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1" i="0">
                <a:solidFill>
                  <a:srgbClr val="4FC3F7"/>
                </a:solidFill>
                <a:latin typeface="微软雅黑"/>
                <a:ea typeface="微软雅黑"/>
              </a:rPr>
              <a:t>parsing</a:t>
            </a:r>
          </a:p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850" b="0" i="0">
                <a:solidFill>
                  <a:srgbClr val="8FA3B8"/>
                </a:solidFill>
                <a:latin typeface="微软雅黑"/>
                <a:ea typeface="微软雅黑"/>
              </a:rPr>
              <a:t>解析中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5584" y="1956816"/>
            <a:ext cx="384048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8FA3B8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956816"/>
            <a:ext cx="2395728" cy="621792"/>
          </a:xfrm>
          <a:prstGeom prst="roundRect">
            <a:avLst>
              <a:gd name="adj" fmla="val 8000"/>
            </a:avLst>
          </a:prstGeom>
          <a:solidFill>
            <a:srgbClr val="1B293A"/>
          </a:solidFill>
          <a:ln w="1143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9632" y="1956816"/>
            <a:ext cx="2395728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1" i="0">
                <a:solidFill>
                  <a:srgbClr val="4FC3F7"/>
                </a:solidFill>
                <a:latin typeface="微软雅黑"/>
                <a:ea typeface="微软雅黑"/>
              </a:rPr>
              <a:t>reviewing</a:t>
            </a:r>
          </a:p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850" b="0" i="0">
                <a:solidFill>
                  <a:srgbClr val="8FA3B8"/>
                </a:solidFill>
                <a:latin typeface="微软雅黑"/>
                <a:ea typeface="微软雅黑"/>
              </a:rPr>
              <a:t>审查中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1956816"/>
            <a:ext cx="384048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8FA3B8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79408" y="1956816"/>
            <a:ext cx="2395728" cy="621792"/>
          </a:xfrm>
          <a:prstGeom prst="roundRect">
            <a:avLst>
              <a:gd name="adj" fmla="val 8000"/>
            </a:avLst>
          </a:prstGeom>
          <a:solidFill>
            <a:srgbClr val="1B293A"/>
          </a:solidFill>
          <a:ln w="11430">
            <a:solidFill>
              <a:srgbClr val="4FC3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79408" y="1956816"/>
            <a:ext cx="2395728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1" i="0">
                <a:solidFill>
                  <a:srgbClr val="4FC3F7"/>
                </a:solidFill>
                <a:latin typeface="微软雅黑"/>
                <a:ea typeface="微软雅黑"/>
              </a:rPr>
              <a:t>completed</a:t>
            </a:r>
          </a:p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850" b="0" i="0">
                <a:solidFill>
                  <a:srgbClr val="8FA3B8"/>
                </a:solidFill>
                <a:latin typeface="微软雅黑"/>
                <a:ea typeface="微软雅黑"/>
              </a:rPr>
              <a:t>已完成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19856" y="2761488"/>
            <a:ext cx="2395728" cy="548640"/>
          </a:xfrm>
          <a:prstGeom prst="roundRect">
            <a:avLst>
              <a:gd name="adj" fmla="val 8000"/>
            </a:avLst>
          </a:prstGeom>
          <a:solidFill>
            <a:srgbClr val="1B293A"/>
          </a:solidFill>
          <a:ln w="11430">
            <a:solidFill>
              <a:srgbClr val="F8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19856" y="2761488"/>
            <a:ext cx="239572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50" b="1" i="0">
                <a:solidFill>
                  <a:srgbClr val="F86B6B"/>
                </a:solidFill>
                <a:latin typeface="微软雅黑"/>
                <a:ea typeface="微软雅黑"/>
              </a:rPr>
              <a:t>blocked · 解析受阻</a:t>
            </a:r>
          </a:p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800" b="0" i="0">
                <a:solidFill>
                  <a:srgbClr val="8FA3B8"/>
                </a:solidFill>
                <a:latin typeface="微软雅黑"/>
                <a:ea typeface="微软雅黑"/>
              </a:rPr>
              <a:t>记录原因 · 告警 · 一键重试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8192" y="2761488"/>
            <a:ext cx="5440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50" b="0" i="0">
                <a:solidFill>
                  <a:srgbClr val="8FA3B8"/>
                </a:solidFill>
                <a:latin typeface="微软雅黑"/>
                <a:ea typeface="微软雅黑"/>
              </a:rPr>
              <a:t>触发：加密 / 模糊 / 空正文 / 格式不支持 / 超时；重试回到 parsing，上限 3 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511296"/>
            <a:ext cx="7315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1" i="0">
                <a:solidFill>
                  <a:srgbClr val="6EE7B7"/>
                </a:solidFill>
                <a:latin typeface="微软雅黑"/>
                <a:ea typeface="微软雅黑"/>
              </a:rPr>
              <a:t>回写状态机（四态 + 失败重试）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840480"/>
            <a:ext cx="2395728" cy="621792"/>
          </a:xfrm>
          <a:prstGeom prst="roundRect">
            <a:avLst>
              <a:gd name="adj" fmla="val 8000"/>
            </a:avLst>
          </a:prstGeom>
          <a:solidFill>
            <a:srgbClr val="1B293A"/>
          </a:solidFill>
          <a:ln w="11430">
            <a:solidFill>
              <a:srgbClr val="8F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840480"/>
            <a:ext cx="2395728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1" i="0">
                <a:solidFill>
                  <a:srgbClr val="8FA3B8"/>
                </a:solidFill>
                <a:latin typeface="微软雅黑"/>
                <a:ea typeface="微软雅黑"/>
              </a:rPr>
              <a:t>not_written</a:t>
            </a:r>
          </a:p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850" b="0" i="0">
                <a:solidFill>
                  <a:srgbClr val="8FA3B8"/>
                </a:solidFill>
                <a:latin typeface="微软雅黑"/>
                <a:ea typeface="微软雅黑"/>
              </a:rPr>
              <a:t>未回写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35808" y="3840480"/>
            <a:ext cx="384048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8FA3B8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19856" y="3840480"/>
            <a:ext cx="2395728" cy="621792"/>
          </a:xfrm>
          <a:prstGeom prst="roundRect">
            <a:avLst>
              <a:gd name="adj" fmla="val 8000"/>
            </a:avLst>
          </a:prstGeom>
          <a:solidFill>
            <a:srgbClr val="1B293A"/>
          </a:solidFill>
          <a:ln w="1143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19856" y="3840480"/>
            <a:ext cx="2395728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1" i="0">
                <a:solidFill>
                  <a:srgbClr val="6EE7B7"/>
                </a:solidFill>
                <a:latin typeface="微软雅黑"/>
                <a:ea typeface="微软雅黑"/>
              </a:rPr>
              <a:t>writing</a:t>
            </a:r>
          </a:p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850" b="0" i="0">
                <a:solidFill>
                  <a:srgbClr val="8FA3B8"/>
                </a:solidFill>
                <a:latin typeface="微软雅黑"/>
                <a:ea typeface="微软雅黑"/>
              </a:rPr>
              <a:t>回写中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15584" y="3840480"/>
            <a:ext cx="384048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8FA3B8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9632" y="3840480"/>
            <a:ext cx="2395728" cy="621792"/>
          </a:xfrm>
          <a:prstGeom prst="roundRect">
            <a:avLst>
              <a:gd name="adj" fmla="val 8000"/>
            </a:avLst>
          </a:prstGeom>
          <a:solidFill>
            <a:srgbClr val="1B293A"/>
          </a:solidFill>
          <a:ln w="1143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9632" y="3840480"/>
            <a:ext cx="2395728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1" i="0">
                <a:solidFill>
                  <a:srgbClr val="6EE7B7"/>
                </a:solidFill>
                <a:latin typeface="微软雅黑"/>
                <a:ea typeface="微软雅黑"/>
              </a:rPr>
              <a:t>success</a:t>
            </a:r>
          </a:p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850" b="0" i="0">
                <a:solidFill>
                  <a:srgbClr val="8FA3B8"/>
                </a:solidFill>
                <a:latin typeface="微软雅黑"/>
                <a:ea typeface="微软雅黑"/>
              </a:rPr>
              <a:t>回写成功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419856" y="4645152"/>
            <a:ext cx="2395728" cy="512064"/>
          </a:xfrm>
          <a:prstGeom prst="roundRect">
            <a:avLst>
              <a:gd name="adj" fmla="val 8000"/>
            </a:avLst>
          </a:prstGeom>
          <a:solidFill>
            <a:srgbClr val="1B293A"/>
          </a:solidFill>
          <a:ln w="11430">
            <a:solidFill>
              <a:srgbClr val="F8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19856" y="4645152"/>
            <a:ext cx="2395728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50" b="1" i="0">
                <a:solidFill>
                  <a:srgbClr val="F86B6B"/>
                </a:solidFill>
                <a:latin typeface="微软雅黑"/>
                <a:ea typeface="微软雅黑"/>
              </a:rPr>
              <a:t>failed · 回写失败</a:t>
            </a:r>
          </a:p>
          <a:p>
            <a:pPr algn="ctr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800" b="0" i="0">
                <a:solidFill>
                  <a:srgbClr val="8FA3B8"/>
                </a:solidFill>
                <a:latin typeface="微软雅黑"/>
                <a:ea typeface="微软雅黑"/>
              </a:rPr>
              <a:t>重试 → writing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08192" y="4645152"/>
            <a:ext cx="54406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50" b="0" i="0">
                <a:solidFill>
                  <a:srgbClr val="8FA3B8"/>
                </a:solidFill>
                <a:latin typeface="微软雅黑"/>
                <a:ea typeface="微软雅黑"/>
              </a:rPr>
              <a:t>回写失败记录错误日志并支持重试，审查结论不丢数据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394960"/>
            <a:ext cx="5394960" cy="987552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5504688"/>
            <a:ext cx="64008" cy="768096"/>
          </a:xfrm>
          <a:prstGeom prst="rect">
            <a:avLst/>
          </a:prstGeom>
          <a:solidFill>
            <a:srgbClr val="F8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504688"/>
            <a:ext cx="48463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150" b="1" i="0">
                <a:solidFill>
                  <a:srgbClr val="F86B6B"/>
                </a:solidFill>
                <a:latin typeface="微软雅黑"/>
                <a:ea typeface="微软雅黑"/>
              </a:rPr>
              <a:t>阻塞触发条件（任一命中即转 blocked）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852160"/>
            <a:ext cx="48920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1" i="0">
                <a:solidFill>
                  <a:srgbClr val="F86B6B"/>
                </a:solidFill>
                <a:latin typeface="微软雅黑"/>
                <a:ea typeface="微软雅黑"/>
              </a:rPr>
              <a:t>▍ </a:t>
            </a:r>
            <a:r>
              <a:rPr sz="950" b="0" i="0">
                <a:solidFill>
                  <a:srgbClr val="E6EDF5"/>
                </a:solidFill>
                <a:latin typeface="微软雅黑"/>
                <a:ea typeface="微软雅黑"/>
              </a:rPr>
              <a:t>加密 / 模糊 / 空正文 / 格式不支持 / 超时任一命中</a:t>
            </a:r>
          </a:p>
          <a:p>
            <a:pPr>
              <a:lnSpc>
                <a:spcPct val="116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1" i="0">
                <a:solidFill>
                  <a:srgbClr val="F86B6B"/>
                </a:solidFill>
                <a:latin typeface="微软雅黑"/>
                <a:ea typeface="微软雅黑"/>
              </a:rPr>
              <a:t>▍ </a:t>
            </a:r>
            <a:r>
              <a:rPr sz="950" b="0" i="0">
                <a:solidFill>
                  <a:srgbClr val="E6EDF5"/>
                </a:solidFill>
                <a:latin typeface="微软雅黑"/>
                <a:ea typeface="微软雅黑"/>
              </a:rPr>
              <a:t>记录阻塞原因并推送告警，等待人工处理与重试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5394960"/>
            <a:ext cx="5120640" cy="987552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0" y="5504688"/>
            <a:ext cx="64008" cy="768096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5120" y="5504688"/>
            <a:ext cx="4572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150" b="1" i="0">
                <a:solidFill>
                  <a:srgbClr val="4FC3F7"/>
                </a:solidFill>
                <a:latin typeface="微软雅黑"/>
                <a:ea typeface="微软雅黑"/>
              </a:rPr>
              <a:t>关键实现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5852160"/>
            <a:ext cx="46177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1" i="0">
                <a:solidFill>
                  <a:srgbClr val="4FC3F7"/>
                </a:solidFill>
                <a:latin typeface="微软雅黑"/>
                <a:ea typeface="微软雅黑"/>
              </a:rPr>
              <a:t>▍ </a:t>
            </a:r>
            <a:r>
              <a:rPr sz="950" b="0" i="0">
                <a:solidFill>
                  <a:srgbClr val="E6EDF5"/>
                </a:solidFill>
                <a:latin typeface="微软雅黑"/>
                <a:ea typeface="微软雅黑"/>
              </a:rPr>
              <a:t>状态流转集中实现，非法流转直接拦截（409）</a:t>
            </a:r>
          </a:p>
          <a:p>
            <a:pPr>
              <a:lnSpc>
                <a:spcPct val="116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1" i="0">
                <a:solidFill>
                  <a:srgbClr val="4FC3F7"/>
                </a:solidFill>
                <a:latin typeface="微软雅黑"/>
                <a:ea typeface="微软雅黑"/>
              </a:rPr>
              <a:t>▍ </a:t>
            </a:r>
            <a:r>
              <a:rPr sz="950" b="0" i="0">
                <a:solidFill>
                  <a:srgbClr val="E6EDF5"/>
                </a:solidFill>
                <a:latin typeface="微软雅黑"/>
                <a:ea typeface="微软雅黑"/>
              </a:rPr>
              <a:t>每次流转落库，前端轮询展示实时进度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49224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合同审批智能审查系统 · 项目路演   |   V1.0 · 2026.09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07040" y="6492240"/>
            <a:ext cx="9418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17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4FC3F7"/>
                </a:solidFill>
                <a:latin typeface="微软雅黑"/>
                <a:ea typeface="微软雅黑"/>
              </a:rPr>
              <a:t>16</a:t>
            </a:r>
            <a:r>
              <a:rPr sz="1300" b="1" i="0">
                <a:solidFill>
                  <a:srgbClr val="8FA3B8"/>
                </a:solidFill>
                <a:latin typeface="微软雅黑"/>
                <a:ea typeface="微软雅黑"/>
              </a:rPr>
              <a:t>   关键设计详解</a:t>
            </a:r>
            <a:r>
              <a:rPr sz="1000" b="0" i="0">
                <a:solidFill>
                  <a:srgbClr val="5A6B83"/>
                </a:solidFill>
                <a:latin typeface="微软雅黑"/>
                <a:ea typeface="微软雅黑"/>
              </a:rPr>
              <a:t>   / WRITEBACK &amp;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822960" cy="50292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42415"/>
            <a:ext cx="10972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E6EDF5"/>
                </a:solidFill>
                <a:latin typeface="微软雅黑"/>
                <a:ea typeface="微软雅黑"/>
              </a:rPr>
              <a:t>审批回写与审查报告导出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212080" cy="4114800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38528"/>
            <a:ext cx="64008" cy="3895344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1" i="0">
                <a:solidFill>
                  <a:srgbClr val="6EE7B7"/>
                </a:solidFill>
                <a:latin typeface="微软雅黑"/>
                <a:ea typeface="微软雅黑"/>
              </a:rPr>
              <a:t>回写审批系统评论区（Markdown 格式化）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50592"/>
            <a:ext cx="4709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980" b="1" i="0">
                <a:solidFill>
                  <a:srgbClr val="6EE7B7"/>
                </a:solidFill>
                <a:latin typeface="微软雅黑"/>
                <a:ea typeface="微软雅黑"/>
              </a:rPr>
              <a:t>【智能审查意见】《软件采购合同》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38628"/>
            <a:ext cx="4709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980" b="1" i="0">
                <a:solidFill>
                  <a:srgbClr val="F86B6B"/>
                </a:solidFill>
                <a:latin typeface="微软雅黑"/>
                <a:ea typeface="微软雅黑"/>
              </a:rPr>
              <a:t>综合风险等级：高风险 ｜ 审查结论：建议拒绝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26664"/>
            <a:ext cx="4709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980" b="0" i="0">
                <a:solidFill>
                  <a:srgbClr val="E6EDF5"/>
                </a:solidFill>
                <a:latin typeface="微软雅黑"/>
                <a:ea typeface="微软雅黑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14700"/>
            <a:ext cx="4709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980" b="0" i="0">
                <a:solidFill>
                  <a:srgbClr val="E6EDF5"/>
                </a:solidFill>
                <a:latin typeface="微软雅黑"/>
                <a:ea typeface="微软雅黑"/>
              </a:rPr>
              <a:t>一、核心风险摘要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02736"/>
            <a:ext cx="4709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980" b="0" i="0">
                <a:solidFill>
                  <a:srgbClr val="8FA3B8"/>
                </a:solidFill>
                <a:latin typeface="微软雅黑"/>
                <a:ea typeface="微软雅黑"/>
              </a:rPr>
              <a:t>1.【高风险】知识产权归属供应商 —— 第 5 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90772"/>
            <a:ext cx="4709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980" b="0" i="0">
                <a:solidFill>
                  <a:srgbClr val="8FA3B8"/>
                </a:solidFill>
                <a:latin typeface="微软雅黑"/>
                <a:ea typeface="微软雅黑"/>
              </a:rPr>
              <a:t>2.【高风险】到货即付全款、无验收条款 —— 第 3 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78808"/>
            <a:ext cx="4709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980" b="0" i="0">
                <a:solidFill>
                  <a:srgbClr val="E6EDF5"/>
                </a:solidFill>
                <a:latin typeface="微软雅黑"/>
                <a:ea typeface="微软雅黑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466844"/>
            <a:ext cx="4709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980" b="0" i="0">
                <a:solidFill>
                  <a:srgbClr val="E6EDF5"/>
                </a:solidFill>
                <a:latin typeface="微软雅黑"/>
                <a:ea typeface="微软雅黑"/>
              </a:rPr>
              <a:t>二、需重点关注事项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754880"/>
            <a:ext cx="4709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980" b="0" i="0">
                <a:solidFill>
                  <a:srgbClr val="8FA3B8"/>
                </a:solidFill>
                <a:latin typeface="微软雅黑"/>
                <a:ea typeface="微软雅黑"/>
              </a:rPr>
              <a:t>付款节点未设置验收前置条件，建议改为按里程碑付款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42916"/>
            <a:ext cx="4709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980" b="0" i="0">
                <a:solidFill>
                  <a:srgbClr val="E6EDF5"/>
                </a:solidFill>
                <a:latin typeface="微软雅黑"/>
                <a:ea typeface="微软雅黑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30952"/>
            <a:ext cx="4709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980" b="0" i="0">
                <a:solidFill>
                  <a:srgbClr val="E6EDF5"/>
                </a:solidFill>
                <a:latin typeface="微软雅黑"/>
                <a:ea typeface="微软雅黑"/>
              </a:rPr>
              <a:t>三、法务补充意见（人工批注原文）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618988"/>
            <a:ext cx="4709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400"/>
              </a:spcAft>
            </a:pPr>
            <a:r>
              <a:rPr sz="980" b="0" i="0">
                <a:solidFill>
                  <a:srgbClr val="8FA3B8"/>
                </a:solidFill>
                <a:latin typeface="微软雅黑"/>
                <a:ea typeface="微软雅黑"/>
              </a:rPr>
              <a:t>—— 本意见由智能审查系统生成，须经法务确认后生效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1481328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1" i="0">
                <a:solidFill>
                  <a:srgbClr val="E6EDF5"/>
                </a:solidFill>
                <a:latin typeface="微软雅黑"/>
                <a:ea typeface="微软雅黑"/>
              </a:rPr>
              <a:t>审查报告四区块（PDF / Markdown 导出）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1874519"/>
            <a:ext cx="5257800" cy="896112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1984248"/>
            <a:ext cx="64008" cy="676656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965960"/>
            <a:ext cx="4800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1" i="0">
                <a:solidFill>
                  <a:srgbClr val="4FC3F7"/>
                </a:solidFill>
                <a:latin typeface="微软雅黑"/>
                <a:ea typeface="微软雅黑"/>
              </a:rPr>
              <a:t>① 合同基本信息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295144"/>
            <a:ext cx="482803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950" b="0" i="0">
                <a:solidFill>
                  <a:srgbClr val="8FA3B8"/>
                </a:solidFill>
                <a:latin typeface="微软雅黑"/>
                <a:ea typeface="微软雅黑"/>
              </a:rPr>
              <a:t>标题 / 编号 / 送审部门 / 申请人 / 相对方 / 金额 / 履约周期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2898648"/>
            <a:ext cx="5257800" cy="896112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008376"/>
            <a:ext cx="64008" cy="676656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2990088"/>
            <a:ext cx="4800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1" i="0">
                <a:solidFill>
                  <a:srgbClr val="6EE7B7"/>
                </a:solidFill>
                <a:latin typeface="微软雅黑"/>
                <a:ea typeface="微软雅黑"/>
              </a:rPr>
              <a:t>② 综合审查结论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319272"/>
            <a:ext cx="482803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950" b="0" i="0">
                <a:solidFill>
                  <a:srgbClr val="8FA3B8"/>
                </a:solidFill>
                <a:latin typeface="微软雅黑"/>
                <a:ea typeface="微软雅黑"/>
              </a:rPr>
              <a:t>总风险等级 · 通过 / 整改 / 建议拒绝 · 核心风险摘要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3922776"/>
            <a:ext cx="5257800" cy="896112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4032504"/>
            <a:ext cx="64008" cy="676656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014215"/>
            <a:ext cx="4800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1" i="0">
                <a:solidFill>
                  <a:srgbClr val="4FC3F7"/>
                </a:solidFill>
                <a:latin typeface="微软雅黑"/>
                <a:ea typeface="微软雅黑"/>
              </a:rPr>
              <a:t>③ 风险清单明细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4343400"/>
            <a:ext cx="482803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950" b="0" i="0">
                <a:solidFill>
                  <a:srgbClr val="8FA3B8"/>
                </a:solidFill>
                <a:latin typeface="微软雅黑"/>
                <a:ea typeface="微软雅黑"/>
              </a:rPr>
              <a:t>风险项 + 等级 + 条款类型 + 页码段落定位 + 成因依据 + 示范条款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4946904"/>
            <a:ext cx="5257800" cy="896112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63640" y="5056632"/>
            <a:ext cx="64008" cy="676656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5038344"/>
            <a:ext cx="4800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1" i="0">
                <a:solidFill>
                  <a:srgbClr val="6EE7B7"/>
                </a:solidFill>
                <a:latin typeface="微软雅黑"/>
                <a:ea typeface="微软雅黑"/>
              </a:rPr>
              <a:t>④ 审批回写评论文本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367528"/>
            <a:ext cx="4828032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400"/>
              </a:spcBef>
              <a:spcAft>
                <a:spcPts val="400"/>
              </a:spcAft>
            </a:pPr>
            <a:r>
              <a:rPr sz="950" b="0" i="0">
                <a:solidFill>
                  <a:srgbClr val="8FA3B8"/>
                </a:solidFill>
                <a:latin typeface="微软雅黑"/>
                <a:ea typeface="微软雅黑"/>
              </a:rPr>
              <a:t>格式化 Markdown 原文，与评论区内容一致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9224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合同审批智能审查系统 · 项目路演   |   V1.0 · 2026.09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0" y="6492240"/>
            <a:ext cx="9418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18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4FC3F7"/>
                </a:solidFill>
                <a:latin typeface="微软雅黑"/>
                <a:ea typeface="微软雅黑"/>
              </a:rPr>
              <a:t>17</a:t>
            </a:r>
            <a:r>
              <a:rPr sz="1300" b="1" i="0">
                <a:solidFill>
                  <a:srgbClr val="8FA3B8"/>
                </a:solidFill>
                <a:latin typeface="微软雅黑"/>
                <a:ea typeface="微软雅黑"/>
              </a:rPr>
              <a:t>   界面与交互设计</a:t>
            </a:r>
            <a:r>
              <a:rPr sz="1000" b="0" i="0">
                <a:solidFill>
                  <a:srgbClr val="5A6B83"/>
                </a:solidFill>
                <a:latin typeface="微软雅黑"/>
                <a:ea typeface="微软雅黑"/>
              </a:rPr>
              <a:t>   / WORKBENCH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822960" cy="50292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42415"/>
            <a:ext cx="10972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E6EDF5"/>
                </a:solidFill>
                <a:latin typeface="微软雅黑"/>
                <a:ea typeface="微软雅黑"/>
              </a:rPr>
              <a:t>智能审查工作台：双栏双向联动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623560" cy="3520440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11430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623560" cy="457200"/>
          </a:xfrm>
          <a:prstGeom prst="rect">
            <a:avLst/>
          </a:prstGeom>
          <a:solidFill>
            <a:srgbClr val="1B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5120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1" i="0">
                <a:solidFill>
                  <a:srgbClr val="E6EDF5"/>
                </a:solidFill>
                <a:latin typeface="微软雅黑"/>
                <a:ea typeface="微软雅黑"/>
              </a:rPr>
              <a:t>合同原文 · 采购合同（风险版）.docx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395728"/>
            <a:ext cx="3108960" cy="82296"/>
          </a:xfrm>
          <a:prstGeom prst="rect">
            <a:avLst/>
          </a:prstGeom>
          <a:solidFill>
            <a:srgbClr val="24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2615184"/>
            <a:ext cx="4315968" cy="256032"/>
          </a:xfrm>
          <a:prstGeom prst="roundRect">
            <a:avLst>
              <a:gd name="adj" fmla="val 8000"/>
            </a:avLst>
          </a:prstGeom>
          <a:solidFill>
            <a:srgbClr val="40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2615184"/>
            <a:ext cx="45720" cy="256032"/>
          </a:xfrm>
          <a:prstGeom prst="rect">
            <a:avLst/>
          </a:prstGeom>
          <a:solidFill>
            <a:srgbClr val="F8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2999232"/>
            <a:ext cx="2651760" cy="82296"/>
          </a:xfrm>
          <a:prstGeom prst="rect">
            <a:avLst/>
          </a:prstGeom>
          <a:solidFill>
            <a:srgbClr val="24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8680" y="3218688"/>
            <a:ext cx="3675887" cy="256032"/>
          </a:xfrm>
          <a:prstGeom prst="roundRect">
            <a:avLst>
              <a:gd name="adj" fmla="val 8000"/>
            </a:avLst>
          </a:prstGeom>
          <a:solidFill>
            <a:srgbClr val="3D3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8680" y="3218688"/>
            <a:ext cx="45720" cy="256032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3602736"/>
            <a:ext cx="2926080" cy="82296"/>
          </a:xfrm>
          <a:prstGeom prst="rect">
            <a:avLst/>
          </a:prstGeom>
          <a:solidFill>
            <a:srgbClr val="24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3822192"/>
            <a:ext cx="3950208" cy="256032"/>
          </a:xfrm>
          <a:prstGeom prst="roundRect">
            <a:avLst>
              <a:gd name="adj" fmla="val 8000"/>
            </a:avLst>
          </a:prstGeom>
          <a:solidFill>
            <a:srgbClr val="402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3822192"/>
            <a:ext cx="45720" cy="256032"/>
          </a:xfrm>
          <a:prstGeom prst="rect">
            <a:avLst/>
          </a:prstGeom>
          <a:solidFill>
            <a:srgbClr val="F8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206240"/>
            <a:ext cx="2743200" cy="82296"/>
          </a:xfrm>
          <a:prstGeom prst="rect">
            <a:avLst/>
          </a:prstGeom>
          <a:solidFill>
            <a:srgbClr val="24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4507992"/>
            <a:ext cx="3291840" cy="82296"/>
          </a:xfrm>
          <a:prstGeom prst="rect">
            <a:avLst/>
          </a:prstGeom>
          <a:solidFill>
            <a:srgbClr val="24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4809744"/>
            <a:ext cx="2377440" cy="82296"/>
          </a:xfrm>
          <a:prstGeom prst="rect">
            <a:avLst/>
          </a:prstGeom>
          <a:solidFill>
            <a:srgbClr val="2434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46520" y="1783080"/>
            <a:ext cx="5074920" cy="3520440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11430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46520" y="1783080"/>
            <a:ext cx="5074920" cy="457200"/>
          </a:xfrm>
          <a:prstGeom prst="rect">
            <a:avLst/>
          </a:prstGeom>
          <a:solidFill>
            <a:srgbClr val="1B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1783080"/>
            <a:ext cx="4663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1" i="0">
                <a:solidFill>
                  <a:srgbClr val="E6EDF5"/>
                </a:solidFill>
                <a:latin typeface="微软雅黑"/>
                <a:ea typeface="微软雅黑"/>
              </a:rPr>
              <a:t>风险卡片 · 按高 / 中 / 低分级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2423160"/>
            <a:ext cx="4617720" cy="749808"/>
          </a:xfrm>
          <a:prstGeom prst="roundRect">
            <a:avLst>
              <a:gd name="adj" fmla="val 8000"/>
            </a:avLst>
          </a:prstGeom>
          <a:solidFill>
            <a:srgbClr val="1B293A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75120" y="2514600"/>
            <a:ext cx="54864" cy="566928"/>
          </a:xfrm>
          <a:prstGeom prst="rect">
            <a:avLst/>
          </a:prstGeom>
          <a:solidFill>
            <a:srgbClr val="F8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12864" y="2505456"/>
            <a:ext cx="4206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50" b="1" i="0">
                <a:solidFill>
                  <a:srgbClr val="F86B6B"/>
                </a:solidFill>
                <a:latin typeface="微软雅黑"/>
                <a:ea typeface="微软雅黑"/>
              </a:rPr>
              <a:t>高风险 · 知识产权归属供应商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12864" y="2825496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第 5 条 · 建议：保留源代码使用权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0" y="3300984"/>
            <a:ext cx="4617720" cy="749808"/>
          </a:xfrm>
          <a:prstGeom prst="roundRect">
            <a:avLst>
              <a:gd name="adj" fmla="val 8000"/>
            </a:avLst>
          </a:prstGeom>
          <a:solidFill>
            <a:srgbClr val="1B293A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675120" y="3392424"/>
            <a:ext cx="54864" cy="566928"/>
          </a:xfrm>
          <a:prstGeom prst="rect">
            <a:avLst/>
          </a:prstGeom>
          <a:solidFill>
            <a:srgbClr val="F8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12864" y="3383279"/>
            <a:ext cx="4206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50" b="1" i="0">
                <a:solidFill>
                  <a:srgbClr val="F86B6B"/>
                </a:solidFill>
                <a:latin typeface="微软雅黑"/>
                <a:ea typeface="微软雅黑"/>
              </a:rPr>
              <a:t>高风险 · 无验收即付全款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12864" y="3703320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第 3 条 · 建议：按里程碑付款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75120" y="4178808"/>
            <a:ext cx="4617720" cy="749808"/>
          </a:xfrm>
          <a:prstGeom prst="roundRect">
            <a:avLst>
              <a:gd name="adj" fmla="val 8000"/>
            </a:avLst>
          </a:prstGeom>
          <a:solidFill>
            <a:srgbClr val="1B293A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75120" y="4270248"/>
            <a:ext cx="54864" cy="56692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12864" y="4261104"/>
            <a:ext cx="4206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50" b="1" i="0">
                <a:solidFill>
                  <a:srgbClr val="FBBF24"/>
                </a:solidFill>
                <a:latin typeface="微软雅黑"/>
                <a:ea typeface="微软雅黑"/>
              </a:rPr>
              <a:t>中风险 · 保密条款无期限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12864" y="4581144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第 9 条 · 建议：保密期 5 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1072" y="2377440"/>
            <a:ext cx="182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4FC3F7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91072" y="3108960"/>
            <a:ext cx="182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6EE7B7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440680"/>
            <a:ext cx="10881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150" b="0" i="0">
                <a:solidFill>
                  <a:srgbClr val="E6EDF5"/>
                </a:solidFill>
                <a:latin typeface="微软雅黑"/>
                <a:ea typeface="微软雅黑"/>
              </a:rPr>
              <a:t>点击风险卡片 → 左栏自动滚动到对应段落并脉冲高亮；点击原文高亮 → 右栏滚动并展开对应卡片（双向联动）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870448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8FA3B8"/>
                </a:solidFill>
                <a:latin typeface="微软雅黑"/>
                <a:ea typeface="微软雅黑"/>
              </a:rPr>
              <a:t>元数据条：相对方 / 金额（千分位）/ 履行期限 / 合同编号   ·   建议一键复制 / 采纳 / 内联编辑   ·   批注 + 一键回写 + 报告导出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49224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合同审批智能审查系统 · 项目路演   |   V1.0 · 2026.09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6492240"/>
            <a:ext cx="9418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19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4FC3F7"/>
                </a:solidFill>
                <a:latin typeface="微软雅黑"/>
                <a:ea typeface="微软雅黑"/>
              </a:rPr>
              <a:t>18</a:t>
            </a:r>
            <a:r>
              <a:rPr sz="1300" b="1" i="0">
                <a:solidFill>
                  <a:srgbClr val="8FA3B8"/>
                </a:solidFill>
                <a:latin typeface="微软雅黑"/>
                <a:ea typeface="微软雅黑"/>
              </a:rPr>
              <a:t>   关键设计详解</a:t>
            </a:r>
            <a:r>
              <a:rPr sz="1000" b="0" i="0">
                <a:solidFill>
                  <a:srgbClr val="5A6B83"/>
                </a:solidFill>
                <a:latin typeface="微软雅黑"/>
                <a:ea typeface="微软雅黑"/>
              </a:rPr>
              <a:t>   / DATA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822960" cy="50292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42415"/>
            <a:ext cx="10972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E6EDF5"/>
                </a:solidFill>
                <a:latin typeface="微软雅黑"/>
                <a:ea typeface="微软雅黑"/>
              </a:rPr>
              <a:t>数据模型：8 张核心表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2615184" cy="1847088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84248"/>
            <a:ext cx="64008" cy="1627632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075688"/>
            <a:ext cx="2240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1" i="0">
                <a:solidFill>
                  <a:srgbClr val="4FC3F7"/>
                </a:solidFill>
                <a:latin typeface="微软雅黑"/>
                <a:ea typeface="微软雅黑"/>
              </a:rPr>
              <a:t>review_task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587752"/>
            <a:ext cx="2240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E6EDF5"/>
                </a:solidFill>
                <a:latin typeface="微软雅黑"/>
                <a:ea typeface="微软雅黑"/>
              </a:rPr>
              <a:t>任务主表（任务 + 回写双状态、阻塞原因）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01568" y="1874519"/>
            <a:ext cx="2615184" cy="1847088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1984248"/>
            <a:ext cx="64008" cy="1627632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1" y="2075688"/>
            <a:ext cx="2240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1" i="0">
                <a:solidFill>
                  <a:srgbClr val="6EE7B7"/>
                </a:solidFill>
                <a:latin typeface="微软雅黑"/>
                <a:ea typeface="微软雅黑"/>
              </a:rPr>
              <a:t>contract_doc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1" y="2587752"/>
            <a:ext cx="2240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E6EDF5"/>
                </a:solidFill>
                <a:latin typeface="微软雅黑"/>
                <a:ea typeface="微软雅黑"/>
              </a:rPr>
              <a:t>合同附件与解析产物（文件 / 页数 / OCR 标记）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1874519"/>
            <a:ext cx="2615184" cy="1847088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984248"/>
            <a:ext cx="64008" cy="1627632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075688"/>
            <a:ext cx="2240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1" i="0">
                <a:solidFill>
                  <a:srgbClr val="4FC3F7"/>
                </a:solidFill>
                <a:latin typeface="微软雅黑"/>
                <a:ea typeface="微软雅黑"/>
              </a:rPr>
              <a:t>clause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87752"/>
            <a:ext cx="2240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E6EDF5"/>
                </a:solidFill>
                <a:latin typeface="微软雅黑"/>
                <a:ea typeface="微软雅黑"/>
              </a:rPr>
              <a:t>条款切分结果（三元定位坐标）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24544" y="1874519"/>
            <a:ext cx="2615184" cy="1847088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24544" y="1984248"/>
            <a:ext cx="64008" cy="1627632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62288" y="2075688"/>
            <a:ext cx="2240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1" i="0">
                <a:solidFill>
                  <a:srgbClr val="6EE7B7"/>
                </a:solidFill>
                <a:latin typeface="微软雅黑"/>
                <a:ea typeface="微软雅黑"/>
              </a:rPr>
              <a:t>metadata_item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2288" y="2587752"/>
            <a:ext cx="2240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E6EDF5"/>
                </a:solidFill>
                <a:latin typeface="微软雅黑"/>
                <a:ea typeface="微软雅黑"/>
              </a:rPr>
              <a:t>元数据字段 + 原文来源位置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977639"/>
            <a:ext cx="2615184" cy="1847088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087368"/>
            <a:ext cx="64008" cy="1627632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4178807"/>
            <a:ext cx="2240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1" i="0">
                <a:solidFill>
                  <a:srgbClr val="4FC3F7"/>
                </a:solidFill>
                <a:latin typeface="微软雅黑"/>
                <a:ea typeface="微软雅黑"/>
              </a:rPr>
              <a:t>risk_item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690872"/>
            <a:ext cx="2240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E6EDF5"/>
                </a:solidFill>
                <a:latin typeface="微软雅黑"/>
                <a:ea typeface="微软雅黑"/>
              </a:rPr>
              <a:t>风险卡片（等级 · 证据链 · 采纳状态 · 批注）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01568" y="3977639"/>
            <a:ext cx="2615184" cy="1847088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01568" y="4087368"/>
            <a:ext cx="64008" cy="1627632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39311" y="4178807"/>
            <a:ext cx="2240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1" i="0">
                <a:solidFill>
                  <a:srgbClr val="6EE7B7"/>
                </a:solidFill>
                <a:latin typeface="微软雅黑"/>
                <a:ea typeface="微软雅黑"/>
              </a:rPr>
              <a:t>review_rule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39311" y="4690872"/>
            <a:ext cx="2240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E6EDF5"/>
                </a:solidFill>
                <a:latin typeface="微软雅黑"/>
                <a:ea typeface="微软雅黑"/>
              </a:rPr>
              <a:t>审查规则 + 标准示范条款库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63056" y="3977639"/>
            <a:ext cx="2615184" cy="1847088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63056" y="4087368"/>
            <a:ext cx="64008" cy="1627632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4178807"/>
            <a:ext cx="2240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1" i="0">
                <a:solidFill>
                  <a:srgbClr val="4FC3F7"/>
                </a:solidFill>
                <a:latin typeface="微软雅黑"/>
                <a:ea typeface="微软雅黑"/>
              </a:rPr>
              <a:t>writeback_log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690872"/>
            <a:ext cx="2240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E6EDF5"/>
                </a:solidFill>
                <a:latin typeface="微软雅黑"/>
                <a:ea typeface="微软雅黑"/>
              </a:rPr>
              <a:t>回写日志（四态 + 错误信息）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924544" y="3977639"/>
            <a:ext cx="2615184" cy="1847088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24544" y="4087368"/>
            <a:ext cx="64008" cy="1627632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62288" y="4178807"/>
            <a:ext cx="2240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250" b="1" i="0">
                <a:solidFill>
                  <a:srgbClr val="6EE7B7"/>
                </a:solidFill>
                <a:latin typeface="微软雅黑"/>
                <a:ea typeface="微软雅黑"/>
              </a:rPr>
              <a:t>annotation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62288" y="4690872"/>
            <a:ext cx="2240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400"/>
              </a:spcBef>
              <a:spcAft>
                <a:spcPts val="400"/>
              </a:spcAft>
            </a:pPr>
            <a:r>
              <a:rPr sz="1000" b="0" i="0">
                <a:solidFill>
                  <a:srgbClr val="E6EDF5"/>
                </a:solidFill>
                <a:latin typeface="微软雅黑"/>
                <a:ea typeface="微软雅黑"/>
              </a:rPr>
              <a:t>法务人工批注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8FA3B8"/>
                </a:solidFill>
                <a:latin typeface="微软雅黑"/>
                <a:ea typeface="微软雅黑"/>
              </a:rPr>
              <a:t>演示期 SQLite 单文件落盘（零运维）；SQLAlchemy 抽象层保证可平滑迁移 PostgreSQL。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49224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合同审批智能审查系统 · 项目路演   |   V1.0 · 2026.09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0" y="6492240"/>
            <a:ext cx="9418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4FC3F7"/>
                </a:solidFill>
                <a:latin typeface="微软雅黑"/>
                <a:ea typeface="微软雅黑"/>
              </a:rPr>
              <a:t>19</a:t>
            </a:r>
            <a:r>
              <a:rPr sz="1300" b="1" i="0">
                <a:solidFill>
                  <a:srgbClr val="8FA3B8"/>
                </a:solidFill>
                <a:latin typeface="微软雅黑"/>
                <a:ea typeface="微软雅黑"/>
              </a:rPr>
              <a:t>   验证与亮点</a:t>
            </a:r>
            <a:r>
              <a:rPr sz="1000" b="0" i="0">
                <a:solidFill>
                  <a:srgbClr val="5A6B83"/>
                </a:solidFill>
                <a:latin typeface="微软雅黑"/>
                <a:ea typeface="微软雅黑"/>
              </a:rPr>
              <a:t>   / HIGHLIGHTS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822960" cy="50292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42415"/>
            <a:ext cx="10972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E6EDF5"/>
                </a:solidFill>
                <a:latin typeface="微软雅黑"/>
                <a:ea typeface="微软雅黑"/>
              </a:rPr>
              <a:t>技术亮点与创新点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676656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38528"/>
            <a:ext cx="64008" cy="4572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196596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0E1621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828800"/>
            <a:ext cx="22860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350" b="1" i="0">
                <a:solidFill>
                  <a:srgbClr val="4FC3F7"/>
                </a:solidFill>
                <a:latin typeface="微软雅黑"/>
                <a:ea typeface="微软雅黑"/>
              </a:rPr>
              <a:t>全文可溯源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1828800"/>
            <a:ext cx="75895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50" b="0" i="0">
                <a:solidFill>
                  <a:srgbClr val="8FA3B8"/>
                </a:solidFill>
                <a:latin typeface="微软雅黑"/>
                <a:ea typeface="微软雅黑"/>
              </a:rPr>
              <a:t>页码 / 段落 / 字符区间三元定位锚定每条风险证据，审查意见与原文双向可跳转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87752"/>
            <a:ext cx="10881360" cy="676656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97480"/>
            <a:ext cx="64008" cy="457200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" y="272491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0E1621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2587752"/>
            <a:ext cx="22860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350" b="1" i="0">
                <a:solidFill>
                  <a:srgbClr val="6EE7B7"/>
                </a:solidFill>
                <a:latin typeface="微软雅黑"/>
                <a:ea typeface="微软雅黑"/>
              </a:rPr>
              <a:t>双引擎协同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2587752"/>
            <a:ext cx="75895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50" b="0" i="0">
                <a:solidFill>
                  <a:srgbClr val="8FA3B8"/>
                </a:solidFill>
                <a:latin typeface="微软雅黑"/>
                <a:ea typeface="微软雅黑"/>
              </a:rPr>
              <a:t>规则引擎保确定性 + 大模型补语义；合并去重、来源标记、失败静默降级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346704"/>
            <a:ext cx="10881360" cy="676656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456432"/>
            <a:ext cx="64008" cy="4572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" y="348386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0E1621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346704"/>
            <a:ext cx="22860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350" b="1" i="0">
                <a:solidFill>
                  <a:srgbClr val="4FC3F7"/>
                </a:solidFill>
                <a:latin typeface="微软雅黑"/>
                <a:ea typeface="微软雅黑"/>
              </a:rPr>
              <a:t>状态机集中管理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3346704"/>
            <a:ext cx="75895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50" b="0" i="0">
                <a:solidFill>
                  <a:srgbClr val="8FA3B8"/>
                </a:solidFill>
                <a:latin typeface="微软雅黑"/>
                <a:ea typeface="微软雅黑"/>
              </a:rPr>
              <a:t>任务 5 态 + 回写 4 态显式建模；异常路径可恢复、非法流转直接拦截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105656"/>
            <a:ext cx="10881360" cy="676656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215384"/>
            <a:ext cx="64008" cy="457200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" y="424281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0E1621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4105656"/>
            <a:ext cx="22860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350" b="1" i="0">
                <a:solidFill>
                  <a:srgbClr val="6EE7B7"/>
                </a:solidFill>
                <a:latin typeface="微软雅黑"/>
                <a:ea typeface="微软雅黑"/>
              </a:rPr>
              <a:t>离线可完整演示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4105656"/>
            <a:ext cx="75895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50" b="0" i="0">
                <a:solidFill>
                  <a:srgbClr val="8FA3B8"/>
                </a:solidFill>
                <a:latin typeface="微软雅黑"/>
                <a:ea typeface="微软雅黑"/>
              </a:rPr>
              <a:t>无 API Key 自动降级为纯规则引擎，界面明示引擎状态，保证演示零依赖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864608"/>
            <a:ext cx="10881360" cy="676656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974336"/>
            <a:ext cx="64008" cy="4572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41248" y="500176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0E1621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9888" y="4864608"/>
            <a:ext cx="22860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350" b="1" i="0">
                <a:solidFill>
                  <a:srgbClr val="4FC3F7"/>
                </a:solidFill>
                <a:latin typeface="微软雅黑"/>
                <a:ea typeface="微软雅黑"/>
              </a:rPr>
              <a:t>Mock 审批系统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864608"/>
            <a:ext cx="75895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50" b="0" i="0">
                <a:solidFill>
                  <a:srgbClr val="8FA3B8"/>
                </a:solidFill>
                <a:latin typeface="微软雅黑"/>
                <a:ea typeface="微软雅黑"/>
              </a:rPr>
              <a:t>待办 / 附件 / 评论区全模拟 + 故障注入；契约对齐主流 OA，可平滑替换真实系统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623559"/>
            <a:ext cx="10881360" cy="676656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733288"/>
            <a:ext cx="64008" cy="457200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41248" y="576072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0E1621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89888" y="5623559"/>
            <a:ext cx="228600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</a:pPr>
            <a:r>
              <a:rPr sz="1350" b="1" i="0">
                <a:solidFill>
                  <a:srgbClr val="6EE7B7"/>
                </a:solidFill>
                <a:latin typeface="微软雅黑"/>
                <a:ea typeface="微软雅黑"/>
              </a:rPr>
              <a:t>私有化部署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4760" y="5623559"/>
            <a:ext cx="758952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050" b="0" i="0">
                <a:solidFill>
                  <a:srgbClr val="8FA3B8"/>
                </a:solidFill>
                <a:latin typeface="微软雅黑"/>
                <a:ea typeface="微软雅黑"/>
              </a:rPr>
              <a:t>合同数据不出企业边界；模型层抽象封装，可切换任意 OpenAI 兼容端点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9224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合同审批智能审查系统 · 项目路演   |   V1.0 · 2026.09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492240"/>
            <a:ext cx="9418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21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4FC3F7"/>
                </a:solidFill>
                <a:latin typeface="微软雅黑"/>
                <a:ea typeface="微软雅黑"/>
              </a:rPr>
              <a:t>20</a:t>
            </a:r>
            <a:r>
              <a:rPr sz="1300" b="1" i="0">
                <a:solidFill>
                  <a:srgbClr val="8FA3B8"/>
                </a:solidFill>
                <a:latin typeface="微软雅黑"/>
                <a:ea typeface="微软雅黑"/>
              </a:rPr>
              <a:t>   验证与亮点</a:t>
            </a:r>
            <a:r>
              <a:rPr sz="1000" b="0" i="0">
                <a:solidFill>
                  <a:srgbClr val="5A6B83"/>
                </a:solidFill>
                <a:latin typeface="微软雅黑"/>
                <a:ea typeface="微软雅黑"/>
              </a:rPr>
              <a:t>   / SAMPLE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822960" cy="50292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42415"/>
            <a:ext cx="10972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E6EDF5"/>
                </a:solidFill>
                <a:latin typeface="微软雅黑"/>
                <a:ea typeface="微软雅黑"/>
              </a:rPr>
              <a:t>示例合同集：7 份覆盖全链路用例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566160" cy="877824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54864" cy="694944"/>
          </a:xfrm>
          <a:prstGeom prst="rect">
            <a:avLst/>
          </a:prstGeom>
          <a:solidFill>
            <a:srgbClr val="F8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92024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1" i="0">
                <a:solidFill>
                  <a:srgbClr val="E6EDF5"/>
                </a:solidFill>
                <a:latin typeface="微软雅黑"/>
                <a:ea typeface="微软雅黑"/>
              </a:rPr>
              <a:t>采购合同-风险版.docx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22860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50" b="0" i="0">
                <a:solidFill>
                  <a:srgbClr val="F86B6B"/>
                </a:solidFill>
                <a:latin typeface="微软雅黑"/>
                <a:ea typeface="微软雅黑"/>
              </a:rPr>
              <a:t>场景一：知识产权 + 付款风险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07408" y="1828800"/>
            <a:ext cx="3566160" cy="877824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07408" y="1920240"/>
            <a:ext cx="54864" cy="694944"/>
          </a:xfrm>
          <a:prstGeom prst="rect">
            <a:avLst/>
          </a:prstGeom>
          <a:solidFill>
            <a:srgbClr val="F8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92024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1" i="0">
                <a:solidFill>
                  <a:srgbClr val="E6EDF5"/>
                </a:solidFill>
                <a:latin typeface="微软雅黑"/>
                <a:ea typeface="微软雅黑"/>
              </a:rPr>
              <a:t>销售合同-违约责任不对等.docx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22860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50" b="0" i="0">
                <a:solidFill>
                  <a:srgbClr val="F86B6B"/>
                </a:solidFill>
                <a:latin typeface="微软雅黑"/>
                <a:ea typeface="微软雅黑"/>
              </a:rPr>
              <a:t>场景二：违约不对等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4736" y="1828800"/>
            <a:ext cx="3566160" cy="877824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74736" y="1920240"/>
            <a:ext cx="54864" cy="694944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92024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1" i="0">
                <a:solidFill>
                  <a:srgbClr val="E6EDF5"/>
                </a:solidFill>
                <a:latin typeface="微软雅黑"/>
                <a:ea typeface="微软雅黑"/>
              </a:rPr>
              <a:t>采购合同-标准版.docx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22860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50" b="0" i="0">
                <a:solidFill>
                  <a:srgbClr val="6EE7B7"/>
                </a:solidFill>
                <a:latin typeface="微软雅黑"/>
                <a:ea typeface="微软雅黑"/>
              </a:rPr>
              <a:t>低风险基线对照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834640"/>
            <a:ext cx="3566160" cy="877824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2926080"/>
            <a:ext cx="54864" cy="694944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292608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1" i="0">
                <a:solidFill>
                  <a:srgbClr val="E6EDF5"/>
                </a:solidFill>
                <a:latin typeface="微软雅黑"/>
                <a:ea typeface="微软雅黑"/>
              </a:rPr>
              <a:t>劳动合同-标准版.pdf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329184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50" b="0" i="0">
                <a:solidFill>
                  <a:srgbClr val="4FC3F7"/>
                </a:solidFill>
                <a:latin typeface="微软雅黑"/>
                <a:ea typeface="微软雅黑"/>
              </a:rPr>
              <a:t>PDF 文本层解析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7408" y="2834640"/>
            <a:ext cx="3566160" cy="877824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07408" y="2926080"/>
            <a:ext cx="54864" cy="69494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26864" y="292608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1" i="0">
                <a:solidFill>
                  <a:srgbClr val="E6EDF5"/>
                </a:solidFill>
                <a:latin typeface="微软雅黑"/>
                <a:ea typeface="微软雅黑"/>
              </a:rPr>
              <a:t>服务合同-扫描件.pdf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6864" y="329184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50" b="0" i="0">
                <a:solidFill>
                  <a:srgbClr val="FBBF24"/>
                </a:solidFill>
                <a:latin typeface="微软雅黑"/>
                <a:ea typeface="微软雅黑"/>
              </a:rPr>
              <a:t>OCR 识别链路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74736" y="2834640"/>
            <a:ext cx="3566160" cy="877824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74736" y="2926080"/>
            <a:ext cx="54864" cy="69494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94192" y="292608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1" i="0">
                <a:solidFill>
                  <a:srgbClr val="E6EDF5"/>
                </a:solidFill>
                <a:latin typeface="微软雅黑"/>
                <a:ea typeface="微软雅黑"/>
              </a:rPr>
              <a:t>合同-加密.pdf / 空白扫描.jpg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29184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50" b="0" i="0">
                <a:solidFill>
                  <a:srgbClr val="FBBF24"/>
                </a:solidFill>
                <a:latin typeface="微软雅黑"/>
                <a:ea typeface="微软雅黑"/>
              </a:rPr>
              <a:t>blocked 阻塞用例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977639"/>
            <a:ext cx="5394960" cy="1783080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4087368"/>
            <a:ext cx="64008" cy="1563624"/>
          </a:xfrm>
          <a:prstGeom prst="rect">
            <a:avLst/>
          </a:prstGeom>
          <a:solidFill>
            <a:srgbClr val="F8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133087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1" i="0">
                <a:solidFill>
                  <a:srgbClr val="F86B6B"/>
                </a:solidFill>
                <a:latin typeface="微软雅黑"/>
                <a:ea typeface="微软雅黑"/>
              </a:rPr>
              <a:t>场景一 · 软件采购合同（期望：高风险）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553712"/>
            <a:ext cx="48920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1" i="0">
                <a:solidFill>
                  <a:srgbClr val="F86B6B"/>
                </a:solidFill>
                <a:latin typeface="微软雅黑"/>
                <a:ea typeface="微软雅黑"/>
              </a:rPr>
              <a:t>▍ </a:t>
            </a:r>
            <a:r>
              <a:rPr sz="1050" b="0" i="0">
                <a:solidFill>
                  <a:srgbClr val="E6EDF5"/>
                </a:solidFill>
                <a:latin typeface="微软雅黑"/>
                <a:ea typeface="微软雅黑"/>
              </a:rPr>
              <a:t>「知识产权归供应商所有」→ 保留源代码产权建议</a:t>
            </a:r>
          </a:p>
          <a:p>
            <a:pPr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1" i="0">
                <a:solidFill>
                  <a:srgbClr val="F86B6B"/>
                </a:solidFill>
                <a:latin typeface="微软雅黑"/>
                <a:ea typeface="微软雅黑"/>
              </a:rPr>
              <a:t>▍ </a:t>
            </a:r>
            <a:r>
              <a:rPr sz="1050" b="0" i="0">
                <a:solidFill>
                  <a:srgbClr val="E6EDF5"/>
                </a:solidFill>
                <a:latin typeface="微软雅黑"/>
                <a:ea typeface="微软雅黑"/>
              </a:rPr>
              <a:t>「到货即付全款、无验收条款」→ 按里程碑付款建议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977639"/>
            <a:ext cx="5120640" cy="1783080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4087368"/>
            <a:ext cx="64008" cy="156362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75120" y="4133087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1" i="0">
                <a:solidFill>
                  <a:srgbClr val="FBBF24"/>
                </a:solidFill>
                <a:latin typeface="微软雅黑"/>
                <a:ea typeface="微软雅黑"/>
              </a:rPr>
              <a:t>场景二 · 大额销售合同（违约不对等）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4553712"/>
            <a:ext cx="461772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1" i="0">
                <a:solidFill>
                  <a:srgbClr val="FBBF24"/>
                </a:solidFill>
                <a:latin typeface="微软雅黑"/>
                <a:ea typeface="微软雅黑"/>
              </a:rPr>
              <a:t>▍ </a:t>
            </a:r>
            <a:r>
              <a:rPr sz="1050" b="0" i="0">
                <a:solidFill>
                  <a:srgbClr val="E6EDF5"/>
                </a:solidFill>
                <a:latin typeface="微软雅黑"/>
                <a:ea typeface="微软雅黑"/>
              </a:rPr>
              <a:t>客户方滞纳金 0.1‰/日 vs 我方无上限赔偿</a:t>
            </a:r>
          </a:p>
          <a:p>
            <a:pPr>
              <a:lnSpc>
                <a:spcPct val="116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1" i="0">
                <a:solidFill>
                  <a:srgbClr val="FBBF24"/>
                </a:solidFill>
                <a:latin typeface="微软雅黑"/>
                <a:ea typeface="微软雅黑"/>
              </a:rPr>
              <a:t>▍ </a:t>
            </a:r>
            <a:r>
              <a:rPr sz="1050" b="0" i="0">
                <a:solidFill>
                  <a:srgbClr val="E6EDF5"/>
                </a:solidFill>
                <a:latin typeface="微软雅黑"/>
                <a:ea typeface="微软雅黑"/>
              </a:rPr>
              <a:t>→ 生成对等赔偿上限示范条款（≤ 合同额 20%）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9224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合同审批智能审查系统 · 项目路演   |   V1.0 · 2026.09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0" y="6492240"/>
            <a:ext cx="9418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4FC3F7"/>
                </a:solidFill>
                <a:latin typeface="微软雅黑"/>
                <a:ea typeface="微软雅黑"/>
              </a:rPr>
              <a:t>21</a:t>
            </a:r>
            <a:r>
              <a:rPr sz="1300" b="1" i="0">
                <a:solidFill>
                  <a:srgbClr val="8FA3B8"/>
                </a:solidFill>
                <a:latin typeface="微软雅黑"/>
                <a:ea typeface="微软雅黑"/>
              </a:rPr>
              <a:t>   验证与亮点</a:t>
            </a:r>
            <a:r>
              <a:rPr sz="1000" b="0" i="0">
                <a:solidFill>
                  <a:srgbClr val="5A6B83"/>
                </a:solidFill>
                <a:latin typeface="微软雅黑"/>
                <a:ea typeface="微软雅黑"/>
              </a:rPr>
              <a:t>   / E2E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822960" cy="50292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42415"/>
            <a:ext cx="10972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E6EDF5"/>
                </a:solidFill>
                <a:latin typeface="微软雅黑"/>
                <a:ea typeface="微软雅黑"/>
              </a:rPr>
              <a:t>端到端演示链路 · 八步走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2615184" cy="1874519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84248"/>
            <a:ext cx="64008" cy="1655063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77824" y="2112263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0E1621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788920"/>
            <a:ext cx="2240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50" b="1" i="0">
                <a:solidFill>
                  <a:srgbClr val="4FC3F7"/>
                </a:solidFill>
                <a:latin typeface="微软雅黑"/>
                <a:ea typeface="微软雅黑"/>
              </a:rPr>
              <a:t>启动服务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172968"/>
            <a:ext cx="2240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980" b="0" i="0">
                <a:solidFill>
                  <a:srgbClr val="8FA3B8"/>
                </a:solidFill>
                <a:latin typeface="微软雅黑"/>
                <a:ea typeface="微软雅黑"/>
              </a:rPr>
              <a:t>一条命令启动，浏览器打开演示入口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01568" y="1874519"/>
            <a:ext cx="2615184" cy="1874519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01568" y="1984248"/>
            <a:ext cx="64008" cy="1655063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39311" y="2112263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0E1621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1" y="2788920"/>
            <a:ext cx="2240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50" b="1" i="0">
                <a:solidFill>
                  <a:srgbClr val="6EE7B7"/>
                </a:solidFill>
                <a:latin typeface="微软雅黑"/>
                <a:ea typeface="微软雅黑"/>
              </a:rPr>
              <a:t>登录大盘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9311" y="3172968"/>
            <a:ext cx="2240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980" b="0" i="0">
                <a:solidFill>
                  <a:srgbClr val="8FA3B8"/>
                </a:solidFill>
                <a:latin typeface="微软雅黑"/>
                <a:ea typeface="微软雅黑"/>
              </a:rPr>
              <a:t>法务账号登录，查看统计卡片与待审列表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1874519"/>
            <a:ext cx="2615184" cy="1874519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63056" y="1984248"/>
            <a:ext cx="64008" cy="1655063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2112263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0E1621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788920"/>
            <a:ext cx="2240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50" b="1" i="0">
                <a:solidFill>
                  <a:srgbClr val="4FC3F7"/>
                </a:solidFill>
                <a:latin typeface="微软雅黑"/>
                <a:ea typeface="微软雅黑"/>
              </a:rPr>
              <a:t>拉取待办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172968"/>
            <a:ext cx="2240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980" b="0" i="0">
                <a:solidFill>
                  <a:srgbClr val="8FA3B8"/>
                </a:solidFill>
                <a:latin typeface="微软雅黑"/>
                <a:ea typeface="微软雅黑"/>
              </a:rPr>
              <a:t>「从审批系统拉取」新增待办合同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24544" y="1874519"/>
            <a:ext cx="2615184" cy="1874519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24544" y="1984248"/>
            <a:ext cx="64008" cy="1655063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62288" y="2112263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0E1621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62288" y="2788920"/>
            <a:ext cx="2240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50" b="1" i="0">
                <a:solidFill>
                  <a:srgbClr val="6EE7B7"/>
                </a:solidFill>
                <a:latin typeface="微软雅黑"/>
                <a:ea typeface="微软雅黑"/>
              </a:rPr>
              <a:t>发起审查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62288" y="3172968"/>
            <a:ext cx="2240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980" b="0" i="0">
                <a:solidFill>
                  <a:srgbClr val="8FA3B8"/>
                </a:solidFill>
                <a:latin typeface="微软雅黑"/>
                <a:ea typeface="微软雅黑"/>
              </a:rPr>
              <a:t>解析中 → 审查中 → 已完成，风险等级回填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3995927"/>
            <a:ext cx="2615184" cy="1874519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105655"/>
            <a:ext cx="64008" cy="1655063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7824" y="4233671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0E1621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" y="4910327"/>
            <a:ext cx="2240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50" b="1" i="0">
                <a:solidFill>
                  <a:srgbClr val="4FC3F7"/>
                </a:solidFill>
                <a:latin typeface="微软雅黑"/>
                <a:ea typeface="微软雅黑"/>
              </a:rPr>
              <a:t>进入工作台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824" y="5294375"/>
            <a:ext cx="2240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980" b="0" i="0">
                <a:solidFill>
                  <a:srgbClr val="8FA3B8"/>
                </a:solidFill>
                <a:latin typeface="微软雅黑"/>
                <a:ea typeface="微软雅黑"/>
              </a:rPr>
              <a:t>原文风险条款高亮，右栏风险卡片分级陈列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01568" y="3995927"/>
            <a:ext cx="2615184" cy="1874519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01568" y="4105655"/>
            <a:ext cx="64008" cy="1655063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639311" y="4233671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0E1621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39311" y="4910327"/>
            <a:ext cx="2240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50" b="1" i="0">
                <a:solidFill>
                  <a:srgbClr val="6EE7B7"/>
                </a:solidFill>
                <a:latin typeface="微软雅黑"/>
                <a:ea typeface="微软雅黑"/>
              </a:rPr>
              <a:t>双向联动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39311" y="5294375"/>
            <a:ext cx="2240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980" b="0" i="0">
                <a:solidFill>
                  <a:srgbClr val="8FA3B8"/>
                </a:solidFill>
                <a:latin typeface="微软雅黑"/>
                <a:ea typeface="微软雅黑"/>
              </a:rPr>
              <a:t>点击卡片定位原文；点击高亮展开卡片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63056" y="3995927"/>
            <a:ext cx="2615184" cy="1874519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63056" y="4105655"/>
            <a:ext cx="64008" cy="1655063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400800" y="4233671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0E1621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910327"/>
            <a:ext cx="2240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50" b="1" i="0">
                <a:solidFill>
                  <a:srgbClr val="4FC3F7"/>
                </a:solidFill>
                <a:latin typeface="微软雅黑"/>
                <a:ea typeface="微软雅黑"/>
              </a:rPr>
              <a:t>复核回写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294375"/>
            <a:ext cx="2240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980" b="0" i="0">
                <a:solidFill>
                  <a:srgbClr val="8FA3B8"/>
                </a:solidFill>
                <a:latin typeface="微软雅黑"/>
                <a:ea typeface="微软雅黑"/>
              </a:rPr>
              <a:t>编辑采纳建议 + 批注 → 一键回写 → 轮询成功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24544" y="3995927"/>
            <a:ext cx="2615184" cy="1874519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924544" y="4105655"/>
            <a:ext cx="64008" cy="1655063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162288" y="4233671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300" b="1" i="0">
                <a:solidFill>
                  <a:srgbClr val="0E1621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62288" y="4910327"/>
            <a:ext cx="224028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50" b="1" i="0">
                <a:solidFill>
                  <a:srgbClr val="6EE7B7"/>
                </a:solidFill>
                <a:latin typeface="微软雅黑"/>
                <a:ea typeface="微软雅黑"/>
              </a:rPr>
              <a:t>报告收尾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62288" y="5294375"/>
            <a:ext cx="2240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r>
              <a:rPr sz="980" b="0" i="0">
                <a:solidFill>
                  <a:srgbClr val="8FA3B8"/>
                </a:solidFill>
                <a:latin typeface="微软雅黑"/>
                <a:ea typeface="微软雅黑"/>
              </a:rPr>
              <a:t>导出审查报告；上传空白 PDF 演示 blocked 与重试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49224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合同审批智能审查系统 · 项目路演   |   V1.0 · 2026.09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7040" y="6492240"/>
            <a:ext cx="9418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" y="384048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4FC3F7"/>
                </a:solidFill>
                <a:latin typeface="微软雅黑"/>
                <a:ea typeface="微软雅黑"/>
              </a:rPr>
              <a:t>22</a:t>
            </a:r>
            <a:r>
              <a:rPr sz="1300" b="1" i="0">
                <a:solidFill>
                  <a:srgbClr val="8FA3B8"/>
                </a:solidFill>
                <a:latin typeface="微软雅黑"/>
                <a:ea typeface="微软雅黑"/>
              </a:rPr>
              <a:t>   实施进展与展望</a:t>
            </a:r>
            <a:r>
              <a:rPr sz="1000" b="0" i="0">
                <a:solidFill>
                  <a:srgbClr val="5A6B83"/>
                </a:solidFill>
                <a:latin typeface="微软雅黑"/>
                <a:ea typeface="微软雅黑"/>
              </a:rPr>
              <a:t>   / MILESTONES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96112"/>
            <a:ext cx="822960" cy="50292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42415"/>
            <a:ext cx="109728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900" b="1" i="0">
                <a:solidFill>
                  <a:srgbClr val="E6EDF5"/>
                </a:solidFill>
                <a:latin typeface="微软雅黑"/>
                <a:ea typeface="微软雅黑"/>
              </a:rPr>
              <a:t>实施进展与里程碑规划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94960" cy="4023360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38528"/>
            <a:ext cx="64008" cy="3803904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450" b="1" i="0">
                <a:solidFill>
                  <a:srgbClr val="6EE7B7"/>
                </a:solidFill>
                <a:latin typeface="微软雅黑"/>
                <a:ea typeface="微软雅黑"/>
              </a:rPr>
              <a:t>M1 已完成 · 工程骨架交付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42032"/>
            <a:ext cx="4919472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6EE7B7"/>
                </a:solidFill>
                <a:latin typeface="微软雅黑"/>
                <a:ea typeface="微软雅黑"/>
              </a:rPr>
              <a:t>▍ </a:t>
            </a:r>
            <a:r>
              <a:rPr sz="1100" b="0" i="0">
                <a:solidFill>
                  <a:srgbClr val="E6EDF5"/>
                </a:solidFill>
                <a:latin typeface="微软雅黑"/>
                <a:ea typeface="微软雅黑"/>
              </a:rPr>
              <a:t>uv + Python 3.11 + FastAPI 工程，依赖锁定可复现</a:t>
            </a:r>
          </a:p>
          <a:p>
            <a:pPr>
              <a:lnSpc>
                <a:spcPct val="11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6EE7B7"/>
                </a:solidFill>
                <a:latin typeface="微软雅黑"/>
                <a:ea typeface="微软雅黑"/>
              </a:rPr>
              <a:t>▍ </a:t>
            </a:r>
            <a:r>
              <a:rPr sz="1100" b="0" i="0">
                <a:solidFill>
                  <a:srgbClr val="E6EDF5"/>
                </a:solidFill>
                <a:latin typeface="微软雅黑"/>
                <a:ea typeface="微软雅黑"/>
              </a:rPr>
              <a:t>SQLite 8 张核心表；任务 / 回写双状态机（非法流转拦截）</a:t>
            </a:r>
          </a:p>
          <a:p>
            <a:pPr>
              <a:lnSpc>
                <a:spcPct val="11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6EE7B7"/>
                </a:solidFill>
                <a:latin typeface="微软雅黑"/>
                <a:ea typeface="微软雅黑"/>
              </a:rPr>
              <a:t>▍ </a:t>
            </a:r>
            <a:r>
              <a:rPr sz="1100" b="0" i="0">
                <a:solidFill>
                  <a:srgbClr val="E6EDF5"/>
                </a:solidFill>
                <a:latin typeface="微软雅黑"/>
                <a:ea typeface="微软雅黑"/>
              </a:rPr>
              <a:t>Mock 审批系统：待办 / 附件 / 评论区 / reset 全套接口</a:t>
            </a:r>
          </a:p>
          <a:p>
            <a:pPr>
              <a:lnSpc>
                <a:spcPct val="11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6EE7B7"/>
                </a:solidFill>
                <a:latin typeface="微软雅黑"/>
                <a:ea typeface="微软雅黑"/>
              </a:rPr>
              <a:t>▍ </a:t>
            </a:r>
            <a:r>
              <a:rPr sz="1100" b="0" i="0">
                <a:solidFill>
                  <a:srgbClr val="E6EDF5"/>
                </a:solidFill>
                <a:latin typeface="微软雅黑"/>
                <a:ea typeface="微软雅黑"/>
              </a:rPr>
              <a:t>示例合同集 7 份自动生成（含加密 / 空白 blocked 用例）</a:t>
            </a:r>
          </a:p>
          <a:p>
            <a:pPr>
              <a:lnSpc>
                <a:spcPct val="11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6EE7B7"/>
                </a:solidFill>
                <a:latin typeface="微软雅黑"/>
                <a:ea typeface="微软雅黑"/>
              </a:rPr>
              <a:t>▍ </a:t>
            </a:r>
            <a:r>
              <a:rPr sz="1100" b="0" i="0">
                <a:solidFill>
                  <a:srgbClr val="E6EDF5"/>
                </a:solidFill>
                <a:latin typeface="微软雅黑"/>
                <a:ea typeface="微软雅黑"/>
              </a:rPr>
              <a:t>冒烟测试覆盖状态机 · 拉取 · 上传 · 回写 · 报告：10/11 通过</a:t>
            </a:r>
          </a:p>
          <a:p>
            <a:pPr>
              <a:lnSpc>
                <a:spcPct val="116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6EE7B7"/>
                </a:solidFill>
                <a:latin typeface="微软雅黑"/>
                <a:ea typeface="微软雅黑"/>
              </a:rPr>
              <a:t>▍ </a:t>
            </a:r>
            <a:r>
              <a:rPr sz="1100" b="0" i="0">
                <a:solidFill>
                  <a:srgbClr val="E6EDF5"/>
                </a:solidFill>
                <a:latin typeface="微软雅黑"/>
                <a:ea typeface="微软雅黑"/>
              </a:rPr>
              <a:t>钉钉阻塞告警链路打通（加签参数待补）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8132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1" i="0">
                <a:solidFill>
                  <a:srgbClr val="E6EDF5"/>
                </a:solidFill>
                <a:latin typeface="微软雅黑"/>
                <a:ea typeface="微软雅黑"/>
              </a:rPr>
              <a:t>M2 – M6 里程碑（按计划推进）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874519"/>
            <a:ext cx="5120640" cy="694944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965960"/>
            <a:ext cx="54864" cy="512064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1938527"/>
            <a:ext cx="731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1" i="0">
                <a:solidFill>
                  <a:srgbClr val="4FC3F7"/>
                </a:solidFill>
                <a:latin typeface="微软雅黑"/>
                <a:ea typeface="微软雅黑"/>
              </a:rPr>
              <a:t>M2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938527"/>
            <a:ext cx="4114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80" b="0" i="0">
                <a:solidFill>
                  <a:srgbClr val="8FA3B8"/>
                </a:solidFill>
                <a:latin typeface="微软雅黑"/>
                <a:ea typeface="微软雅黑"/>
              </a:rPr>
              <a:t>解析引擎：DOCX / PDF / OCR + 元数据 + blocked 场景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679191"/>
            <a:ext cx="5120640" cy="694944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2770632"/>
            <a:ext cx="54864" cy="512064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743199"/>
            <a:ext cx="731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1" i="0">
                <a:solidFill>
                  <a:srgbClr val="6EE7B7"/>
                </a:solidFill>
                <a:latin typeface="微软雅黑"/>
                <a:ea typeface="微软雅黑"/>
              </a:rPr>
              <a:t>M3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743199"/>
            <a:ext cx="4114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80" b="0" i="0">
                <a:solidFill>
                  <a:srgbClr val="8FA3B8"/>
                </a:solidFill>
                <a:latin typeface="微软雅黑"/>
                <a:ea typeface="微软雅黑"/>
              </a:rPr>
              <a:t>审查引擎：规则引擎 + LangGraph 流水线 + LLM 研判与建议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483863"/>
            <a:ext cx="5120640" cy="694944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3575303"/>
            <a:ext cx="54864" cy="512064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3547871"/>
            <a:ext cx="731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1" i="0">
                <a:solidFill>
                  <a:srgbClr val="4FC3F7"/>
                </a:solidFill>
                <a:latin typeface="微软雅黑"/>
                <a:ea typeface="微软雅黑"/>
              </a:rPr>
              <a:t>M4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547871"/>
            <a:ext cx="4114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80" b="0" i="0">
                <a:solidFill>
                  <a:srgbClr val="8FA3B8"/>
                </a:solidFill>
                <a:latin typeface="微软雅黑"/>
                <a:ea typeface="微软雅黑"/>
              </a:rPr>
              <a:t>前端工作台：大盘 + 双栏联动 + 批注回写 + 规则管理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288536"/>
            <a:ext cx="5120640" cy="694944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4379975"/>
            <a:ext cx="54864" cy="512064"/>
          </a:xfrm>
          <a:prstGeom prst="rect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01968" y="4352544"/>
            <a:ext cx="731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1" i="0">
                <a:solidFill>
                  <a:srgbClr val="6EE7B7"/>
                </a:solidFill>
                <a:latin typeface="微软雅黑"/>
                <a:ea typeface="微软雅黑"/>
              </a:rPr>
              <a:t>M5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0" y="4352544"/>
            <a:ext cx="4114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80" b="0" i="0">
                <a:solidFill>
                  <a:srgbClr val="8FA3B8"/>
                </a:solidFill>
                <a:latin typeface="微软雅黑"/>
                <a:ea typeface="微软雅黑"/>
              </a:rPr>
              <a:t>回写与报告：格式化回写 + PDF 报告导出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5093208"/>
            <a:ext cx="5120640" cy="694944"/>
          </a:xfrm>
          <a:prstGeom prst="roundRect">
            <a:avLst>
              <a:gd name="adj" fmla="val 8000"/>
            </a:avLst>
          </a:prstGeom>
          <a:solidFill>
            <a:srgbClr val="16212E"/>
          </a:solidFill>
          <a:ln w="9525">
            <a:solidFill>
              <a:srgbClr val="2434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0800" y="5184648"/>
            <a:ext cx="54864" cy="5120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01968" y="5157216"/>
            <a:ext cx="7315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300" b="1" i="0">
                <a:solidFill>
                  <a:srgbClr val="FBBF24"/>
                </a:solidFill>
                <a:latin typeface="微软雅黑"/>
                <a:ea typeface="微软雅黑"/>
              </a:rPr>
              <a:t>M6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5157216"/>
            <a:ext cx="4114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980" b="0" i="0">
                <a:solidFill>
                  <a:srgbClr val="8FA3B8"/>
                </a:solidFill>
                <a:latin typeface="微软雅黑"/>
                <a:ea typeface="微软雅黑"/>
              </a:rPr>
              <a:t>端到端演示：场景一全流程 + 回归测试与验收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100" b="0" i="0">
                <a:solidFill>
                  <a:srgbClr val="8FA3B8"/>
                </a:solidFill>
                <a:latin typeface="微软雅黑"/>
                <a:ea typeface="微软雅黑"/>
              </a:rPr>
              <a:t>8 项验收标准已在方案中全量响应，M6 完成场景一（软件采购合同）全链路演示后逐条走查。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92240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合同审批智能审查系统 · 项目路演   |   V1.0 · 2026.09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492240"/>
            <a:ext cx="9418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B8"/>
                </a:solidFill>
                <a:latin typeface="微软雅黑"/>
                <a:ea typeface="微软雅黑"/>
              </a:rPr>
              <a:t>24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1430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3400" b="1" i="0">
                <a:solidFill>
                  <a:srgbClr val="E6EDF5"/>
                </a:solidFill>
                <a:latin typeface="微软雅黑"/>
                <a:ea typeface="微软雅黑"/>
              </a:rPr>
              <a:t>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104241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6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1" i="0">
                <a:solidFill>
                  <a:srgbClr val="6EE7B7"/>
                </a:solidFill>
                <a:latin typeface="微软雅黑"/>
                <a:ea typeface="微软雅黑"/>
              </a:rPr>
              <a:t>▍ </a:t>
            </a:r>
            <a:r>
              <a:rPr sz="1450" b="0" i="0">
                <a:solidFill>
                  <a:srgbClr val="E6EDF5"/>
                </a:solidFill>
                <a:latin typeface="微软雅黑"/>
                <a:ea typeface="微软雅黑"/>
              </a:rPr>
              <a:t>合规可控：规则与模板配置化，审查标准随业务演进，无需改代码；</a:t>
            </a:r>
          </a:p>
          <a:p>
            <a:pPr>
              <a:lnSpc>
                <a:spcPct val="116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1" i="0">
                <a:solidFill>
                  <a:srgbClr val="6EE7B7"/>
                </a:solidFill>
                <a:latin typeface="微软雅黑"/>
                <a:ea typeface="微软雅黑"/>
              </a:rPr>
              <a:t>▍ </a:t>
            </a:r>
            <a:r>
              <a:rPr sz="1450" b="0" i="0">
                <a:solidFill>
                  <a:srgbClr val="E6EDF5"/>
                </a:solidFill>
                <a:latin typeface="微软雅黑"/>
                <a:ea typeface="微软雅黑"/>
              </a:rPr>
              <a:t>溯源可信：三元定位让每条审查意见都能回到原文坐标，拒绝「无据判案」；</a:t>
            </a:r>
          </a:p>
          <a:p>
            <a:pPr>
              <a:lnSpc>
                <a:spcPct val="116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1" i="0">
                <a:solidFill>
                  <a:srgbClr val="6EE7B7"/>
                </a:solidFill>
                <a:latin typeface="微软雅黑"/>
                <a:ea typeface="微软雅黑"/>
              </a:rPr>
              <a:t>▍ </a:t>
            </a:r>
            <a:r>
              <a:rPr sz="1450" b="0" i="0">
                <a:solidFill>
                  <a:srgbClr val="E6EDF5"/>
                </a:solidFill>
                <a:latin typeface="微软雅黑"/>
                <a:ea typeface="微软雅黑"/>
              </a:rPr>
              <a:t>降级可用：无 API Key / 无 OCR 库也能完整演示，工程健壮性优先；</a:t>
            </a:r>
          </a:p>
          <a:p>
            <a:pPr>
              <a:lnSpc>
                <a:spcPct val="116000"/>
              </a:lnSpc>
              <a:spcBef>
                <a:spcPts val="1000"/>
              </a:spcBef>
              <a:spcAft>
                <a:spcPts val="0"/>
              </a:spcAft>
            </a:pPr>
            <a:r>
              <a:rPr sz="1450" b="1" i="0">
                <a:solidFill>
                  <a:srgbClr val="6EE7B7"/>
                </a:solidFill>
                <a:latin typeface="微软雅黑"/>
                <a:ea typeface="微软雅黑"/>
              </a:rPr>
              <a:t>▍ </a:t>
            </a:r>
            <a:r>
              <a:rPr sz="1450" b="0" i="0">
                <a:solidFill>
                  <a:srgbClr val="E6EDF5"/>
                </a:solidFill>
                <a:latin typeface="微软雅黑"/>
                <a:ea typeface="微软雅黑"/>
              </a:rPr>
              <a:t>闭环协同：从拉取到回写再到报告导出，合同审查全流程一个工作台完成。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5262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2100" b="1" i="0">
                <a:solidFill>
                  <a:srgbClr val="4FC3F7"/>
                </a:solidFill>
                <a:latin typeface="微软雅黑"/>
                <a:ea typeface="微软雅黑"/>
              </a:rPr>
              <a:t>让每一份合同的风险，都锚定在原文的坐标里。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13892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400" b="0" i="0">
                <a:solidFill>
                  <a:srgbClr val="6EE7B7"/>
                </a:solidFill>
                <a:latin typeface="微软雅黑"/>
                <a:ea typeface="微软雅黑"/>
              </a:rPr>
              <a:t>AI 初审 + 法务复核 · 可解释 · 可溯源 · 可回写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5742432"/>
            <a:ext cx="3108960" cy="36576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888736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400"/>
              </a:spcBef>
              <a:spcAft>
                <a:spcPts val="400"/>
              </a:spcAft>
            </a:pPr>
            <a:r>
              <a:rPr sz="1200" b="0" i="0">
                <a:solidFill>
                  <a:srgbClr val="8FA3B8"/>
                </a:solidFill>
                <a:latin typeface="微软雅黑"/>
                <a:ea typeface="微软雅黑"/>
              </a:rPr>
              <a:t>感谢聆听 · 欢迎各位老师与评委指正   |   合同审批智能审查系统 · 2026.09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